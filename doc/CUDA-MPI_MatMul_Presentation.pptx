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0B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CUDA-MPI MatMul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BFA0"/>
                </a:solidFill>
                <a:latin typeface="Calibri"/>
              </a:defRPr>
            </a:pPr>
            <a:r>
              <a:t>Distributed Matrix Multiplication Framework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291840"/>
            <a:ext cx="2103120" cy="25400"/>
          </a:xfrm>
          <a:prstGeom prst="rect">
            <a:avLst/>
          </a:prstGeom>
          <a:solidFill>
            <a:srgbClr val="E8B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CC8"/>
                </a:solidFill>
                <a:latin typeface="Calibri"/>
              </a:defRPr>
            </a:pPr>
            <a:r>
              <a:t>Parallel &amp; Distributed Computing Lab  |  PDC Project Documentation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CC8"/>
                </a:solidFill>
                <a:latin typeface="Calibri"/>
              </a:defRPr>
            </a:pPr>
            <a:r>
              <a:t>6th Semester, Fall-23  |  Lahore Garrison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8B4F8"/>
                </a:solidFill>
                <a:latin typeface="Calibri"/>
              </a:defRPr>
            </a:pPr>
            <a:r>
              <a:t>M.Fezan (466)  ·  Shoaib Rafiq (479)  ·  Umer Malik (628)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371600" cy="38100"/>
          </a:xfrm>
          <a:prstGeom prst="rect">
            <a:avLst/>
          </a:prstGeom>
          <a:solidFill>
            <a:srgbClr val="00B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640080" cy="594360"/>
          </a:xfrm>
          <a:prstGeom prst="roundRect">
            <a:avLst/>
          </a:prstGeom>
          <a:solidFill>
            <a:srgbClr val="1A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BFA0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Problem Statement &amp; Motivation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7830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C8"/>
                </a:solidFill>
                <a:latin typeface="Calibri"/>
              </a:defRPr>
            </a:pPr>
            <a:r>
              <a:t>Why parallel matrix multiplication matters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40280"/>
            <a:ext cx="640080" cy="594360"/>
          </a:xfrm>
          <a:prstGeom prst="roundRect">
            <a:avLst/>
          </a:prstGeom>
          <a:solidFill>
            <a:srgbClr val="1A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28600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BFA0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25856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5603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C8"/>
                </a:solidFill>
                <a:latin typeface="Calibri"/>
              </a:defRPr>
            </a:pPr>
            <a:r>
              <a:t>Unified framework: CPU · GPU · MPI · Cloud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017520"/>
            <a:ext cx="640080" cy="594360"/>
          </a:xfrm>
          <a:prstGeom prst="roundRect">
            <a:avLst/>
          </a:prstGeom>
          <a:solidFill>
            <a:srgbClr val="1A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06324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BFA0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0358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Implementation Details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3375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C8"/>
                </a:solidFill>
                <a:latin typeface="Calibri"/>
              </a:defRPr>
            </a:pPr>
            <a:r>
              <a:t>5 parallelization strategies across 11 environments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794760"/>
            <a:ext cx="640080" cy="594360"/>
          </a:xfrm>
          <a:prstGeom prst="roundRect">
            <a:avLst/>
          </a:prstGeom>
          <a:solidFill>
            <a:srgbClr val="1A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84048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BFA0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Deployment &amp; Scaling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1148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C8"/>
                </a:solidFill>
                <a:latin typeface="Calibri"/>
              </a:defRPr>
            </a:pPr>
            <a:r>
              <a:t>Docker · Colab · AWS EC2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572000"/>
            <a:ext cx="640080" cy="594360"/>
          </a:xfrm>
          <a:prstGeom prst="roundRect">
            <a:avLst/>
          </a:prstGeom>
          <a:solidFill>
            <a:srgbClr val="1A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61772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BFA0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59028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Benchmark Results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8920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C8"/>
                </a:solidFill>
                <a:latin typeface="Calibri"/>
              </a:defRPr>
            </a:pPr>
            <a:r>
              <a:t>Performance comparison &amp; speedup analysis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349240"/>
            <a:ext cx="640080" cy="594360"/>
          </a:xfrm>
          <a:prstGeom prst="roundRect">
            <a:avLst/>
          </a:prstGeom>
          <a:solidFill>
            <a:srgbClr val="1A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39496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BFA0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536752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Key Findings &amp; Conclusion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56692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C8"/>
                </a:solidFill>
                <a:latin typeface="Calibri"/>
              </a:defRPr>
            </a:pPr>
            <a:r>
              <a:t>What we learned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Problem Statement &amp; Motivation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828800" cy="38100"/>
          </a:xfrm>
          <a:prstGeom prst="rect">
            <a:avLst/>
          </a:prstGeom>
          <a:solidFill>
            <a:srgbClr val="00B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B4F8"/>
                </a:solidFill>
                <a:latin typeface="Calibri"/>
              </a:defRPr>
            </a:pPr>
            <a:r>
              <a:t>The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Matrix multiplication is O(N³) — at N=2048, that's 17.2 billion operations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Sequential execution takes 88+ seconds for 2048×2048 matrices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Modern hardware offers GPU, multi-threading, and distributed computing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No unified framework compares all approaches under identical workloads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Cross-platform reproducibility (Local → Docker → Cloud) is rarely demonstrated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371600"/>
            <a:ext cx="5029200" cy="4572000"/>
          </a:xfrm>
          <a:prstGeom prst="roundRect">
            <a:avLst/>
          </a:prstGeom>
          <a:solidFill>
            <a:srgbClr val="1A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5544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BFA0"/>
                </a:solidFill>
                <a:latin typeface="Calibri"/>
              </a:defRPr>
            </a:pPr>
            <a:r>
              <a:t>At Scale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2103120"/>
            <a:ext cx="2194560" cy="1188720"/>
          </a:xfrm>
          <a:prstGeom prst="roundRect">
            <a:avLst/>
          </a:prstGeom>
          <a:solidFill>
            <a:srgbClr val="1A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22402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BFA0"/>
                </a:solidFill>
                <a:latin typeface="Calibri"/>
              </a:defRPr>
            </a:pPr>
            <a:r>
              <a:t>17.2B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651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CC8"/>
                </a:solidFill>
                <a:latin typeface="Calibri"/>
              </a:defRPr>
            </a:pPr>
            <a:r>
              <a:t>Operations at N=2048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35440" y="2103120"/>
            <a:ext cx="2194560" cy="1188720"/>
          </a:xfrm>
          <a:prstGeom prst="roundRect">
            <a:avLst/>
          </a:prstGeom>
          <a:solidFill>
            <a:srgbClr val="1A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0" y="22402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8B4D8"/>
                </a:solidFill>
                <a:latin typeface="Calibri"/>
              </a:defRPr>
            </a:pPr>
            <a:r>
              <a:t>88.2s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2651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CC8"/>
                </a:solidFill>
                <a:latin typeface="Calibri"/>
              </a:defRPr>
            </a:pPr>
            <a:r>
              <a:t>Sequential Time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3474720"/>
            <a:ext cx="2194560" cy="1188720"/>
          </a:xfrm>
          <a:prstGeom prst="roundRect">
            <a:avLst/>
          </a:prstGeom>
          <a:solidFill>
            <a:srgbClr val="1A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36118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4CAF50"/>
                </a:solidFill>
                <a:latin typeface="Calibri"/>
              </a:defRPr>
            </a:pPr>
            <a:r>
              <a:t>27.3ms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40233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CC8"/>
                </a:solidFill>
                <a:latin typeface="Calibri"/>
              </a:defRPr>
            </a:pPr>
            <a:r>
              <a:t>CUDA Tiled (T4)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3474720"/>
            <a:ext cx="2194560" cy="1188720"/>
          </a:xfrm>
          <a:prstGeom prst="roundRect">
            <a:avLst/>
          </a:prstGeom>
          <a:solidFill>
            <a:srgbClr val="1A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36118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D700"/>
                </a:solidFill>
                <a:latin typeface="Calibri"/>
              </a:defRPr>
            </a:pPr>
            <a:r>
              <a:t>3225x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40233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CC8"/>
                </a:solidFill>
                <a:latin typeface="Calibri"/>
              </a:defRPr>
            </a:pPr>
            <a:r>
              <a:t>Speedup Achieved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828800" cy="38100"/>
          </a:xfrm>
          <a:prstGeom prst="rect">
            <a:avLst/>
          </a:prstGeom>
          <a:solidFill>
            <a:srgbClr val="00B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0" y="1645920"/>
            <a:ext cx="3931920" cy="914400"/>
          </a:xfrm>
          <a:prstGeom prst="roundRect">
            <a:avLst/>
          </a:prstGeom>
          <a:solidFill>
            <a:srgbClr val="00B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0" y="173736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1326"/>
                </a:solidFill>
                <a:latin typeface="Calibri"/>
              </a:defRPr>
            </a:pPr>
            <a:r>
              <a:t>Unified CLI  ( --mode 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108960"/>
            <a:ext cx="2011680" cy="914400"/>
          </a:xfrm>
          <a:prstGeom prst="roundRect">
            <a:avLst/>
          </a:prstGeom>
          <a:solidFill>
            <a:srgbClr val="1A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FC3F7"/>
                </a:solidFill>
                <a:latin typeface="Calibri"/>
              </a:defRPr>
            </a:pPr>
            <a:r>
              <a:t>CPU</a:t>
            </a:r>
            <a:br/>
            <a:r>
              <a:t>Sequential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3108960"/>
            <a:ext cx="2011680" cy="914400"/>
          </a:xfrm>
          <a:prstGeom prst="roundRect">
            <a:avLst/>
          </a:prstGeom>
          <a:solidFill>
            <a:srgbClr val="1A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32004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8B4D8"/>
                </a:solidFill>
                <a:latin typeface="Calibri"/>
              </a:defRPr>
            </a:pPr>
            <a:r>
              <a:t>OpenMP</a:t>
            </a:r>
            <a:br/>
            <a:r>
              <a:t>CPU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0" y="3108960"/>
            <a:ext cx="2011680" cy="914400"/>
          </a:xfrm>
          <a:prstGeom prst="roundRect">
            <a:avLst/>
          </a:prstGeom>
          <a:solidFill>
            <a:srgbClr val="1A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32004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CAF50"/>
                </a:solidFill>
                <a:latin typeface="Calibri"/>
              </a:defRPr>
            </a:pPr>
            <a:r>
              <a:t>CUDA</a:t>
            </a:r>
            <a:br/>
            <a:r>
              <a:t>Naive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3108960"/>
            <a:ext cx="2011680" cy="914400"/>
          </a:xfrm>
          <a:prstGeom prst="roundRect">
            <a:avLst/>
          </a:prstGeom>
          <a:solidFill>
            <a:srgbClr val="1A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0" y="32004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D700"/>
                </a:solidFill>
                <a:latin typeface="Calibri"/>
              </a:defRPr>
            </a:pPr>
            <a:r>
              <a:t>CUDA</a:t>
            </a:r>
            <a:br/>
            <a:r>
              <a:t>Tiled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0" y="3108960"/>
            <a:ext cx="2011680" cy="914400"/>
          </a:xfrm>
          <a:prstGeom prst="roundRect">
            <a:avLst/>
          </a:prstGeom>
          <a:solidFill>
            <a:srgbClr val="1A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0" y="32004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B4F8"/>
                </a:solidFill>
                <a:latin typeface="Calibri"/>
              </a:defRPr>
            </a:pPr>
            <a:r>
              <a:t>MPI</a:t>
            </a:r>
            <a:br/>
            <a:r>
              <a:t>Distributed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389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B4F8"/>
                </a:solidFill>
                <a:latin typeface="Calibri"/>
              </a:defRPr>
            </a:pPr>
            <a:r>
              <a:t>Deployment Targets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937760"/>
            <a:ext cx="2560320" cy="914400"/>
          </a:xfrm>
          <a:prstGeom prst="roundRect">
            <a:avLst/>
          </a:prstGeom>
          <a:solidFill>
            <a:srgbClr val="1A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9834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FC3F7"/>
                </a:solidFill>
                <a:latin typeface="Calibri"/>
              </a:defRPr>
            </a:pPr>
            <a:r>
              <a:t>Local Linux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394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CC8"/>
                </a:solidFill>
                <a:latin typeface="Calibri"/>
              </a:defRPr>
            </a:pPr>
            <a:r>
              <a:t>gcc 11.x · OpenMPI · Native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74720" y="4937760"/>
            <a:ext cx="2560320" cy="914400"/>
          </a:xfrm>
          <a:prstGeom prst="roundRect">
            <a:avLst/>
          </a:prstGeom>
          <a:solidFill>
            <a:srgbClr val="1A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0" y="49834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B4D8"/>
                </a:solidFill>
                <a:latin typeface="Calibri"/>
              </a:defRPr>
            </a:pPr>
            <a:r>
              <a:t>Docker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5394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CC8"/>
                </a:solidFill>
                <a:latin typeface="Calibri"/>
              </a:defRPr>
            </a:pPr>
            <a:r>
              <a:t>4-node MPI cluster · Compose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937760"/>
            <a:ext cx="2560320" cy="914400"/>
          </a:xfrm>
          <a:prstGeom prst="roundRect">
            <a:avLst/>
          </a:prstGeom>
          <a:solidFill>
            <a:srgbClr val="1A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9834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CAF50"/>
                </a:solidFill>
                <a:latin typeface="Calibri"/>
              </a:defRPr>
            </a:pPr>
            <a:r>
              <a:t>Colab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394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CC8"/>
                </a:solidFill>
                <a:latin typeface="Calibri"/>
              </a:defRPr>
            </a:pPr>
            <a:r>
              <a:t>Free T4 GPU · 2560 CUDA cores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26880" y="4937760"/>
            <a:ext cx="2560320" cy="914400"/>
          </a:xfrm>
          <a:prstGeom prst="roundRect">
            <a:avLst/>
          </a:prstGeom>
          <a:solidFill>
            <a:srgbClr val="1A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0" y="49834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D700"/>
                </a:solidFill>
                <a:latin typeface="Calibri"/>
              </a:defRPr>
            </a:pPr>
            <a:r>
              <a:t>AWS EC2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5394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CC8"/>
                </a:solidFill>
                <a:latin typeface="Calibri"/>
              </a:defRPr>
            </a:pPr>
            <a:r>
              <a:t>c5.large · 1-4 instances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Implementation: CPU &amp; OpenMP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828800" cy="38100"/>
          </a:xfrm>
          <a:prstGeom prst="rect">
            <a:avLst/>
          </a:prstGeom>
          <a:solidFill>
            <a:srgbClr val="00B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5394960" cy="5029200"/>
          </a:xfrm>
          <a:prstGeom prst="roundRect">
            <a:avLst/>
          </a:prstGeom>
          <a:solidFill>
            <a:srgbClr val="1A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FC3F7"/>
                </a:solidFill>
                <a:latin typeface="Calibri"/>
              </a:defRPr>
            </a:pPr>
            <a:r>
              <a:t>CPU Sequential (Baseline)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00">
                <a:solidFill>
                  <a:srgbClr val="E0F0FF"/>
                </a:solidFill>
                <a:latin typeface="Consolas"/>
              </a:defRPr>
            </a:pPr>
            <a:r>
              <a:t>for (i = 0; i &lt; M; i++)</a:t>
            </a:r>
          </a:p>
          <a:p>
            <a:pPr>
              <a:spcAft>
                <a:spcPts val="100"/>
              </a:spcAft>
              <a:defRPr sz="1200">
                <a:solidFill>
                  <a:srgbClr val="E0F0FF"/>
                </a:solidFill>
                <a:latin typeface="Consolas"/>
              </a:defRPr>
            </a:pPr>
            <a:r>
              <a:t>  for (j = 0; j &lt; N; j++) {</a:t>
            </a:r>
          </a:p>
          <a:p>
            <a:pPr>
              <a:spcAft>
                <a:spcPts val="100"/>
              </a:spcAft>
              <a:defRPr sz="1200">
                <a:solidFill>
                  <a:srgbClr val="E0F0FF"/>
                </a:solidFill>
                <a:latin typeface="Consolas"/>
              </a:defRPr>
            </a:pPr>
            <a:r>
              <a:t>    float sum = 0.0f;</a:t>
            </a:r>
          </a:p>
          <a:p>
            <a:pPr>
              <a:spcAft>
                <a:spcPts val="100"/>
              </a:spcAft>
              <a:defRPr sz="1200">
                <a:solidFill>
                  <a:srgbClr val="E0F0FF"/>
                </a:solidFill>
                <a:latin typeface="Consolas"/>
              </a:defRPr>
            </a:pPr>
            <a:r>
              <a:t>    for (k = 0; k &lt; K; k++)</a:t>
            </a:r>
          </a:p>
          <a:p>
            <a:pPr>
              <a:spcAft>
                <a:spcPts val="100"/>
              </a:spcAft>
              <a:defRPr sz="1200">
                <a:solidFill>
                  <a:srgbClr val="E0F0FF"/>
                </a:solidFill>
                <a:latin typeface="Consolas"/>
              </a:defRPr>
            </a:pPr>
            <a:r>
              <a:t>      sum += A[i*K+k] * B[k*N+j];</a:t>
            </a:r>
          </a:p>
          <a:p>
            <a:pPr>
              <a:spcAft>
                <a:spcPts val="100"/>
              </a:spcAft>
              <a:defRPr sz="1200">
                <a:solidFill>
                  <a:srgbClr val="E0F0FF"/>
                </a:solidFill>
                <a:latin typeface="Consolas"/>
              </a:defRPr>
            </a:pPr>
            <a:r>
              <a:t>    C[i*N+j] = sum;</a:t>
            </a:r>
          </a:p>
          <a:p>
            <a:pPr>
              <a:spcAft>
                <a:spcPts val="100"/>
              </a:spcAft>
              <a:defRPr sz="1200">
                <a:solidFill>
                  <a:srgbClr val="E0F0FF"/>
                </a:solidFill>
                <a:latin typeface="Consolas"/>
              </a:defRPr>
            </a:pPr>
            <a:r>
              <a:t> 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23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C8"/>
                </a:solidFill>
                <a:latin typeface="Calibri"/>
              </a:defRPr>
            </a:pPr>
            <a:r>
              <a:t>O(N³) · Ground truth · N=2048: 88.23s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700"/>
                </a:solidFill>
                <a:latin typeface="Calibri"/>
              </a:defRPr>
            </a:pPr>
            <a:r>
              <a:t>256: 26.4ms  ·  512: 271.5ms  ·  1024: 5.40s  ·  2048: 88.23s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394960" cy="5029200"/>
          </a:xfrm>
          <a:prstGeom prst="roundRect">
            <a:avLst/>
          </a:prstGeom>
          <a:solidFill>
            <a:srgbClr val="1A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8B4D8"/>
                </a:solidFill>
                <a:latin typeface="Calibri"/>
              </a:defRPr>
            </a:pPr>
            <a:r>
              <a:t>OpenMP CPU Parallel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00">
                <a:solidFill>
                  <a:srgbClr val="E0F0FF"/>
                </a:solidFill>
                <a:latin typeface="Consolas"/>
              </a:defRPr>
            </a:pPr>
            <a:r>
              <a:t>matrix_zero(C, M, N);</a:t>
            </a:r>
          </a:p>
          <a:p>
            <a:pPr>
              <a:spcAft>
                <a:spcPts val="100"/>
              </a:spcAft>
              <a:defRPr sz="1200">
                <a:solidFill>
                  <a:srgbClr val="E0F0FF"/>
                </a:solidFill>
                <a:latin typeface="Consolas"/>
              </a:defRPr>
            </a:pPr>
            <a:r>
              <a:t>#pragma omp parallel for schedule(static)</a:t>
            </a:r>
          </a:p>
          <a:p>
            <a:pPr>
              <a:spcAft>
                <a:spcPts val="100"/>
              </a:spcAft>
              <a:defRPr sz="1200">
                <a:solidFill>
                  <a:srgbClr val="E0F0FF"/>
                </a:solidFill>
                <a:latin typeface="Consolas"/>
              </a:defRPr>
            </a:pPr>
            <a:r>
              <a:t>for (i = 0; i &lt; M; i++)</a:t>
            </a:r>
          </a:p>
          <a:p>
            <a:pPr>
              <a:spcAft>
                <a:spcPts val="100"/>
              </a:spcAft>
              <a:defRPr sz="1200">
                <a:solidFill>
                  <a:srgbClr val="E0F0FF"/>
                </a:solidFill>
                <a:latin typeface="Consolas"/>
              </a:defRPr>
            </a:pPr>
            <a:r>
              <a:t>  for (k = 0; k &lt; K; k++) {</a:t>
            </a:r>
          </a:p>
          <a:p>
            <a:pPr>
              <a:spcAft>
                <a:spcPts val="100"/>
              </a:spcAft>
              <a:defRPr sz="1200">
                <a:solidFill>
                  <a:srgbClr val="E0F0FF"/>
                </a:solidFill>
                <a:latin typeface="Consolas"/>
              </a:defRPr>
            </a:pPr>
            <a:r>
              <a:t>    float a_ik = A[i*K+k];  // hoisted</a:t>
            </a:r>
          </a:p>
          <a:p>
            <a:pPr>
              <a:spcAft>
                <a:spcPts val="100"/>
              </a:spcAft>
              <a:defRPr sz="1200">
                <a:solidFill>
                  <a:srgbClr val="E0F0FF"/>
                </a:solidFill>
                <a:latin typeface="Consolas"/>
              </a:defRPr>
            </a:pPr>
            <a:r>
              <a:t>    for (j = 0; j &lt; N; j++)</a:t>
            </a:r>
          </a:p>
          <a:p>
            <a:pPr>
              <a:spcAft>
                <a:spcPts val="100"/>
              </a:spcAft>
              <a:defRPr sz="1200">
                <a:solidFill>
                  <a:srgbClr val="E0F0FF"/>
                </a:solidFill>
                <a:latin typeface="Consolas"/>
              </a:defRPr>
            </a:pPr>
            <a:r>
              <a:t>      C[i*N+j] += a_ik * B[k*N+j];</a:t>
            </a:r>
          </a:p>
          <a:p>
            <a:pPr>
              <a:spcAft>
                <a:spcPts val="100"/>
              </a:spcAft>
              <a:defRPr sz="1200">
                <a:solidFill>
                  <a:srgbClr val="E0F0FF"/>
                </a:solidFill>
                <a:latin typeface="Consolas"/>
              </a:defRPr>
            </a:pPr>
            <a:r>
              <a:t>  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023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C8"/>
                </a:solidFill>
                <a:latin typeface="Calibri"/>
              </a:defRPr>
            </a:pPr>
            <a:r>
              <a:t>i-k-j order · Scalar hoisting · No collapse(2)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4805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700"/>
                </a:solidFill>
                <a:latin typeface="Calibri"/>
              </a:defRPr>
            </a:pPr>
            <a:r>
              <a:t>256: 1.4ms  ·  512: 8.6ms  ·  1024: 92.1ms  ·  2048: 1.22s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846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CAF50"/>
                </a:solidFill>
                <a:latin typeface="Calibri"/>
              </a:defRPr>
            </a:pPr>
            <a:r>
              <a:t>~72x speedup over CPU Sequential at N=2048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Implementation: CUDA Kernels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828800" cy="38100"/>
          </a:xfrm>
          <a:prstGeom prst="rect">
            <a:avLst/>
          </a:prstGeom>
          <a:solidFill>
            <a:srgbClr val="00B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5394960" cy="5029200"/>
          </a:xfrm>
          <a:prstGeom prst="roundRect">
            <a:avLst/>
          </a:prstGeom>
          <a:solidFill>
            <a:srgbClr val="1A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CAF50"/>
                </a:solidFill>
                <a:latin typeface="Calibri"/>
              </a:defRPr>
            </a:pPr>
            <a:r>
              <a:t>CUDA Naive Kernel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E0F0FF"/>
                </a:solidFill>
                <a:latin typeface="Consolas"/>
              </a:defRPr>
            </a:pPr>
            <a:r>
              <a:t>__global__ void naive_kernel(</a:t>
            </a:r>
          </a:p>
          <a:p>
            <a:pPr>
              <a:spcAft>
                <a:spcPts val="100"/>
              </a:spcAft>
              <a:defRPr sz="1100">
                <a:solidFill>
                  <a:srgbClr val="E0F0FF"/>
                </a:solidFill>
                <a:latin typeface="Consolas"/>
              </a:defRPr>
            </a:pPr>
            <a:r>
              <a:t>    const float* A, const float* B,</a:t>
            </a:r>
          </a:p>
          <a:p>
            <a:pPr>
              <a:spcAft>
                <a:spcPts val="100"/>
              </a:spcAft>
              <a:defRPr sz="1100">
                <a:solidFill>
                  <a:srgbClr val="E0F0FF"/>
                </a:solidFill>
                <a:latin typeface="Consolas"/>
              </a:defRPr>
            </a:pPr>
            <a:r>
              <a:t>    float* C, int N) {</a:t>
            </a:r>
          </a:p>
          <a:p>
            <a:pPr>
              <a:spcAft>
                <a:spcPts val="100"/>
              </a:spcAft>
              <a:defRPr sz="1100">
                <a:solidFill>
                  <a:srgbClr val="E0F0FF"/>
                </a:solidFill>
                <a:latin typeface="Consolas"/>
              </a:defRPr>
            </a:pPr>
            <a:r>
              <a:t>  int row = blockIdx.y*16 + threadIdx.y;</a:t>
            </a:r>
          </a:p>
          <a:p>
            <a:pPr>
              <a:spcAft>
                <a:spcPts val="100"/>
              </a:spcAft>
              <a:defRPr sz="1100">
                <a:solidFill>
                  <a:srgbClr val="E0F0FF"/>
                </a:solidFill>
                <a:latin typeface="Consolas"/>
              </a:defRPr>
            </a:pPr>
            <a:r>
              <a:t>  int col = blockIdx.x*16 + threadIdx.x;</a:t>
            </a:r>
          </a:p>
          <a:p>
            <a:pPr>
              <a:spcAft>
                <a:spcPts val="100"/>
              </a:spcAft>
              <a:defRPr sz="1100">
                <a:solidFill>
                  <a:srgbClr val="E0F0FF"/>
                </a:solidFill>
                <a:latin typeface="Consolas"/>
              </a:defRPr>
            </a:pPr>
            <a:r>
              <a:t>  if (row&lt;N &amp;&amp; col&lt;N) {</a:t>
            </a:r>
          </a:p>
          <a:p>
            <a:pPr>
              <a:spcAft>
                <a:spcPts val="100"/>
              </a:spcAft>
              <a:defRPr sz="1100">
                <a:solidFill>
                  <a:srgbClr val="E0F0FF"/>
                </a:solidFill>
                <a:latin typeface="Consolas"/>
              </a:defRPr>
            </a:pPr>
            <a:r>
              <a:t>    float sum = 0.0f;</a:t>
            </a:r>
          </a:p>
          <a:p>
            <a:pPr>
              <a:spcAft>
                <a:spcPts val="100"/>
              </a:spcAft>
              <a:defRPr sz="1100">
                <a:solidFill>
                  <a:srgbClr val="E0F0FF"/>
                </a:solidFill>
                <a:latin typeface="Consolas"/>
              </a:defRPr>
            </a:pPr>
            <a:r>
              <a:t>    for (k = 0; k &lt; N; k++)</a:t>
            </a:r>
          </a:p>
          <a:p>
            <a:pPr>
              <a:spcAft>
                <a:spcPts val="100"/>
              </a:spcAft>
              <a:defRPr sz="1100">
                <a:solidFill>
                  <a:srgbClr val="E0F0FF"/>
                </a:solidFill>
                <a:latin typeface="Consolas"/>
              </a:defRPr>
            </a:pPr>
            <a:r>
              <a:t>      sum += A[row*N+k] * B[k*N+col];</a:t>
            </a:r>
          </a:p>
          <a:p>
            <a:pPr>
              <a:spcAft>
                <a:spcPts val="100"/>
              </a:spcAft>
              <a:defRPr sz="1100">
                <a:solidFill>
                  <a:srgbClr val="E0F0FF"/>
                </a:solidFill>
                <a:latin typeface="Consolas"/>
              </a:defRPr>
            </a:pPr>
            <a:r>
              <a:t>    C[row*N+col] = sum;</a:t>
            </a:r>
          </a:p>
          <a:p>
            <a:pPr>
              <a:spcAft>
                <a:spcPts val="100"/>
              </a:spcAft>
              <a:defRPr sz="1100">
                <a:solidFill>
                  <a:srgbClr val="E0F0FF"/>
                </a:solidFill>
                <a:latin typeface="Consolas"/>
              </a:defRPr>
            </a:pPr>
            <a:r>
              <a:t>  }</a:t>
            </a:r>
          </a:p>
          <a:p>
            <a:pPr>
              <a:spcAft>
                <a:spcPts val="100"/>
              </a:spcAft>
              <a:defRPr sz="1100">
                <a:solidFill>
                  <a:srgbClr val="E0F0FF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C8"/>
                </a:solidFill>
                <a:latin typeface="Calibri"/>
              </a:defRPr>
            </a:pPr>
            <a:r>
              <a:t>Grid: (N/16, N/16) · Block: (16,16) · Global memory bound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54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700"/>
                </a:solidFill>
                <a:latin typeface="Calibri"/>
              </a:defRPr>
            </a:pPr>
            <a:r>
              <a:t>N=1024: 8.1ms  ·  N=2048: 44.0ms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394960" cy="5029200"/>
          </a:xfrm>
          <a:prstGeom prst="roundRect">
            <a:avLst/>
          </a:prstGeom>
          <a:solidFill>
            <a:srgbClr val="1A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Calibri"/>
              </a:defRPr>
            </a:pPr>
            <a:r>
              <a:t>CUDA Tiled Kernel (Shared Memory)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E0F0FF"/>
                </a:solidFill>
                <a:latin typeface="Consolas"/>
              </a:defRPr>
            </a:pPr>
            <a:r>
              <a:t>__shared__ float tA[16][16], tB[16][16];</a:t>
            </a:r>
          </a:p>
          <a:p>
            <a:pPr>
              <a:spcAft>
                <a:spcPts val="100"/>
              </a:spcAft>
              <a:defRPr sz="1100">
                <a:solidFill>
                  <a:srgbClr val="E0F0FF"/>
                </a:solidFill>
                <a:latin typeface="Consolas"/>
              </a:defRPr>
            </a:pPr>
            <a:r>
              <a:t>for (t = 0; t &lt; (N+15)/16; t++) {</a:t>
            </a:r>
          </a:p>
          <a:p>
            <a:pPr>
              <a:spcAft>
                <a:spcPts val="100"/>
              </a:spcAft>
              <a:defRPr sz="1100">
                <a:solidFill>
                  <a:srgbClr val="E0F0FF"/>
                </a:solidFill>
                <a:latin typeface="Consolas"/>
              </a:defRPr>
            </a:pPr>
            <a:r>
              <a:t>  tA[ty][tx] = A[row*N + t*16+tx];</a:t>
            </a:r>
          </a:p>
          <a:p>
            <a:pPr>
              <a:spcAft>
                <a:spcPts val="100"/>
              </a:spcAft>
              <a:defRPr sz="1100">
                <a:solidFill>
                  <a:srgbClr val="E0F0FF"/>
                </a:solidFill>
                <a:latin typeface="Consolas"/>
              </a:defRPr>
            </a:pPr>
            <a:r>
              <a:t>  tB[ty][tx] = B[(t*16+ty)*N+col];</a:t>
            </a:r>
          </a:p>
          <a:p>
            <a:pPr>
              <a:spcAft>
                <a:spcPts val="100"/>
              </a:spcAft>
              <a:defRPr sz="1100">
                <a:solidFill>
                  <a:srgbClr val="E0F0FF"/>
                </a:solidFill>
                <a:latin typeface="Consolas"/>
              </a:defRPr>
            </a:pPr>
            <a:r>
              <a:t>  __syncthreads();</a:t>
            </a:r>
          </a:p>
          <a:p>
            <a:pPr>
              <a:spcAft>
                <a:spcPts val="100"/>
              </a:spcAft>
              <a:defRPr sz="1100">
                <a:solidFill>
                  <a:srgbClr val="E0F0FF"/>
                </a:solidFill>
                <a:latin typeface="Consolas"/>
              </a:defRPr>
            </a:pPr>
            <a:r>
              <a:t>  for (k = 0; k &lt; 16; k++)</a:t>
            </a:r>
          </a:p>
          <a:p>
            <a:pPr>
              <a:spcAft>
                <a:spcPts val="100"/>
              </a:spcAft>
              <a:defRPr sz="1100">
                <a:solidFill>
                  <a:srgbClr val="E0F0FF"/>
                </a:solidFill>
                <a:latin typeface="Consolas"/>
              </a:defRPr>
            </a:pPr>
            <a:r>
              <a:t>    sum += tA[ty][k] * tB[k][tx];</a:t>
            </a:r>
          </a:p>
          <a:p>
            <a:pPr>
              <a:spcAft>
                <a:spcPts val="100"/>
              </a:spcAft>
              <a:defRPr sz="1100">
                <a:solidFill>
                  <a:srgbClr val="E0F0FF"/>
                </a:solidFill>
                <a:latin typeface="Consolas"/>
              </a:defRPr>
            </a:pPr>
            <a:r>
              <a:t>  __syncthreads();</a:t>
            </a:r>
          </a:p>
          <a:p>
            <a:pPr>
              <a:spcAft>
                <a:spcPts val="100"/>
              </a:spcAft>
              <a:defRPr sz="1100">
                <a:solidFill>
                  <a:srgbClr val="E0F0FF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297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C8"/>
                </a:solidFill>
                <a:latin typeface="Calibri"/>
              </a:defRPr>
            </a:pPr>
            <a:r>
              <a:t>16×16 tiles · Each element loaded once, reused 16×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754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700"/>
                </a:solidFill>
                <a:latin typeface="Calibri"/>
              </a:defRPr>
            </a:pPr>
            <a:r>
              <a:t>N=1024: 3.3ms  ·  N=2048: 27.3ms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120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CAF50"/>
                </a:solidFill>
                <a:latin typeface="Calibri"/>
              </a:defRPr>
            </a:pPr>
            <a:r>
              <a:t>~3225x speedup over local CPU Seq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Implementation: MPI Distributed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828800" cy="38100"/>
          </a:xfrm>
          <a:prstGeom prst="rect">
            <a:avLst/>
          </a:prstGeom>
          <a:solidFill>
            <a:srgbClr val="00B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5943600" cy="5029200"/>
          </a:xfrm>
          <a:prstGeom prst="roundRect">
            <a:avLst/>
          </a:prstGeom>
          <a:solidFill>
            <a:srgbClr val="1A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B4F8"/>
                </a:solidFill>
                <a:latin typeface="Calibri"/>
              </a:defRPr>
            </a:pPr>
            <a:r>
              <a:t>Row-wise Decomposition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577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00">
                <a:solidFill>
                  <a:srgbClr val="E0F0FF"/>
                </a:solidFill>
                <a:latin typeface="Consolas"/>
              </a:defRPr>
            </a:pPr>
            <a:r>
              <a:t>MPI_Bcast(B, N*N, MPI_FLOAT, 0, COMM);</a:t>
            </a:r>
          </a:p>
          <a:p>
            <a:pPr>
              <a:spcAft>
                <a:spcPts val="100"/>
              </a:spcAft>
              <a:defRPr sz="1200">
                <a:solidFill>
                  <a:srgbClr val="E0F0FF"/>
                </a:solidFill>
                <a:latin typeface="Consolas"/>
              </a:defRPr>
            </a:pPr>
            <a:r>
              <a:t>MPI_Scatterv(A, counts, displs,</a:t>
            </a:r>
          </a:p>
          <a:p>
            <a:pPr>
              <a:spcAft>
                <a:spcPts val="100"/>
              </a:spcAft>
              <a:defRPr sz="1200">
                <a:solidFill>
                  <a:srgbClr val="E0F0FF"/>
                </a:solidFill>
                <a:latin typeface="Consolas"/>
              </a:defRPr>
            </a:pPr>
            <a:r>
              <a:t>    MPI_FLOAT, local_A, ...);</a:t>
            </a:r>
          </a:p>
          <a:p>
            <a:pPr>
              <a:spcAft>
                <a:spcPts val="100"/>
              </a:spcAft>
              <a:defRPr sz="1200">
                <a:solidFill>
                  <a:srgbClr val="E0F0FF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E0F0FF"/>
                </a:solidFill>
                <a:latin typeface="Consolas"/>
              </a:defRPr>
            </a:pPr>
            <a:r>
              <a:t>for (i = 0; i &lt; my_rows; i++)</a:t>
            </a:r>
          </a:p>
          <a:p>
            <a:pPr>
              <a:spcAft>
                <a:spcPts val="100"/>
              </a:spcAft>
              <a:defRPr sz="1200">
                <a:solidFill>
                  <a:srgbClr val="E0F0FF"/>
                </a:solidFill>
                <a:latin typeface="Consolas"/>
              </a:defRPr>
            </a:pPr>
            <a:r>
              <a:t>  for (k = 0; k &lt; N; k++) {</a:t>
            </a:r>
          </a:p>
          <a:p>
            <a:pPr>
              <a:spcAft>
                <a:spcPts val="100"/>
              </a:spcAft>
              <a:defRPr sz="1200">
                <a:solidFill>
                  <a:srgbClr val="E0F0FF"/>
                </a:solidFill>
                <a:latin typeface="Consolas"/>
              </a:defRPr>
            </a:pPr>
            <a:r>
              <a:t>    float a_val = local_A[i*N+k];</a:t>
            </a:r>
          </a:p>
          <a:p>
            <a:pPr>
              <a:spcAft>
                <a:spcPts val="100"/>
              </a:spcAft>
              <a:defRPr sz="1200">
                <a:solidFill>
                  <a:srgbClr val="E0F0FF"/>
                </a:solidFill>
                <a:latin typeface="Consolas"/>
              </a:defRPr>
            </a:pPr>
            <a:r>
              <a:t>    for (j = 0; j &lt; N; j++)</a:t>
            </a:r>
          </a:p>
          <a:p>
            <a:pPr>
              <a:spcAft>
                <a:spcPts val="100"/>
              </a:spcAft>
              <a:defRPr sz="1200">
                <a:solidFill>
                  <a:srgbClr val="E0F0FF"/>
                </a:solidFill>
                <a:latin typeface="Consolas"/>
              </a:defRPr>
            </a:pPr>
            <a:r>
              <a:t>      local_C[i*N+j] += a_val*B[k*N+j];</a:t>
            </a:r>
          </a:p>
          <a:p>
            <a:pPr>
              <a:spcAft>
                <a:spcPts val="100"/>
              </a:spcAft>
              <a:defRPr sz="1200">
                <a:solidFill>
                  <a:srgbClr val="E0F0FF"/>
                </a:solidFill>
                <a:latin typeface="Consolas"/>
              </a:defRPr>
            </a:pPr>
            <a:r>
              <a:t>  }</a:t>
            </a:r>
          </a:p>
          <a:p>
            <a:pPr>
              <a:spcAft>
                <a:spcPts val="100"/>
              </a:spcAft>
              <a:defRPr sz="1200">
                <a:solidFill>
                  <a:srgbClr val="E0F0FF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E0F0FF"/>
                </a:solidFill>
                <a:latin typeface="Consolas"/>
              </a:defRPr>
            </a:pPr>
            <a:r>
              <a:t>MPI_Gatherv(local_C, ..., C, ...);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C8"/>
                </a:solidFill>
                <a:latin typeface="Calibri"/>
              </a:defRPr>
            </a:pPr>
            <a:r>
              <a:t>Scatterv/Gatherv for uneven splits · i-k-j loop order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1280160"/>
            <a:ext cx="4846320" cy="2377440"/>
          </a:xfrm>
          <a:prstGeom prst="roundRect">
            <a:avLst/>
          </a:prstGeom>
          <a:solidFill>
            <a:srgbClr val="1A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13716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B4F8"/>
                </a:solidFill>
                <a:latin typeface="Calibri"/>
              </a:defRPr>
            </a:pPr>
            <a:r>
              <a:t>Local MPI Results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192024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MPI-1 (Local)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228600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D700"/>
                </a:solidFill>
                <a:latin typeface="Calibri"/>
              </a:defRPr>
            </a:pPr>
            <a:r>
              <a:t>256: 3.9ms · 512: 22.7ms · 1024: 292.5ms · 2048: 2.84s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274320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MPI-2 (Local)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310896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D700"/>
                </a:solidFill>
                <a:latin typeface="Calibri"/>
              </a:defRPr>
            </a:pPr>
            <a:r>
              <a:t>256: 1.7ms · 512: 16.6ms · 1024: 185ms · 2048: 1.90s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60" y="3840480"/>
            <a:ext cx="4846320" cy="2377440"/>
          </a:xfrm>
          <a:prstGeom prst="roundRect">
            <a:avLst/>
          </a:prstGeom>
          <a:solidFill>
            <a:srgbClr val="1A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393192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B4F8"/>
                </a:solidFill>
                <a:latin typeface="Calibri"/>
              </a:defRPr>
            </a:pPr>
            <a:r>
              <a:t>Docker 4-Node Cluster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448056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MPI-4 (Docker)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484632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D700"/>
                </a:solidFill>
                <a:latin typeface="Calibri"/>
              </a:defRPr>
            </a:pPr>
            <a:r>
              <a:t>256: 4.1ms · 512: 29.3ms · 1024: 253.7ms · 2048: 1.82s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530352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8"/>
                </a:solidFill>
                <a:latin typeface="Calibri"/>
              </a:defRPr>
            </a:pPr>
            <a:r>
              <a:t>Ubuntu 22.04 + OpenMPI + SSH · Fixed IPs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Deployment &amp; Containerization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828800" cy="38100"/>
          </a:xfrm>
          <a:prstGeom prst="rect">
            <a:avLst/>
          </a:prstGeom>
          <a:solidFill>
            <a:srgbClr val="00B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3566160" cy="5029200"/>
          </a:xfrm>
          <a:prstGeom prst="roundRect">
            <a:avLst/>
          </a:prstGeom>
          <a:solidFill>
            <a:srgbClr val="1A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8B4D8"/>
                </a:solidFill>
                <a:latin typeface="Calibri"/>
              </a:defRPr>
            </a:pPr>
            <a:r>
              <a:t>Docker MPI Cluster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E0F0FF"/>
                </a:solidFill>
                <a:latin typeface="Consolas"/>
              </a:defRPr>
            </a:pPr>
            <a:r>
              <a:t>services:</a:t>
            </a:r>
          </a:p>
          <a:p>
            <a:pPr>
              <a:spcAft>
                <a:spcPts val="100"/>
              </a:spcAft>
              <a:defRPr sz="1100">
                <a:solidFill>
                  <a:srgbClr val="E0F0FF"/>
                </a:solidFill>
                <a:latin typeface="Consolas"/>
              </a:defRPr>
            </a:pPr>
            <a:r>
              <a:t>  node0:  # Master</a:t>
            </a:r>
          </a:p>
          <a:p>
            <a:pPr>
              <a:spcAft>
                <a:spcPts val="100"/>
              </a:spcAft>
              <a:defRPr sz="1100">
                <a:solidFill>
                  <a:srgbClr val="E0F0FF"/>
                </a:solidFill>
                <a:latin typeface="Consolas"/>
              </a:defRPr>
            </a:pPr>
            <a:r>
              <a:t>    hostname: node0</a:t>
            </a:r>
          </a:p>
          <a:p>
            <a:pPr>
              <a:spcAft>
                <a:spcPts val="100"/>
              </a:spcAft>
              <a:defRPr sz="1100">
                <a:solidFill>
                  <a:srgbClr val="E0F0FF"/>
                </a:solidFill>
                <a:latin typeface="Consolas"/>
              </a:defRPr>
            </a:pPr>
            <a:r>
              <a:t>    entrypoint:</a:t>
            </a:r>
          </a:p>
          <a:p>
            <a:pPr>
              <a:spcAft>
                <a:spcPts val="100"/>
              </a:spcAft>
              <a:defRPr sz="1100">
                <a:solidFill>
                  <a:srgbClr val="E0F0FF"/>
                </a:solidFill>
                <a:latin typeface="Consolas"/>
              </a:defRPr>
            </a:pPr>
            <a:r>
              <a:t>      mpirun --hostfile</a:t>
            </a:r>
          </a:p>
          <a:p>
            <a:pPr>
              <a:spcAft>
                <a:spcPts val="100"/>
              </a:spcAft>
              <a:defRPr sz="1100">
                <a:solidFill>
                  <a:srgbClr val="E0F0FF"/>
                </a:solidFill>
                <a:latin typeface="Consolas"/>
              </a:defRPr>
            </a:pPr>
            <a:r>
              <a:t>      /app/hostfile -np 4</a:t>
            </a:r>
          </a:p>
          <a:p>
            <a:pPr>
              <a:spcAft>
                <a:spcPts val="100"/>
              </a:spcAft>
              <a:defRPr sz="1100">
                <a:solidFill>
                  <a:srgbClr val="E0F0FF"/>
                </a:solidFill>
                <a:latin typeface="Consolas"/>
              </a:defRPr>
            </a:pPr>
            <a:r>
              <a:t>  node1-3: Workers</a:t>
            </a:r>
          </a:p>
          <a:p>
            <a:pPr>
              <a:spcAft>
                <a:spcPts val="100"/>
              </a:spcAft>
              <a:defRPr sz="1100">
                <a:solidFill>
                  <a:srgbClr val="E0F0FF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E0F0FF"/>
                </a:solidFill>
                <a:latin typeface="Consolas"/>
              </a:defRPr>
            </a:pPr>
            <a:r>
              <a:t>networks:</a:t>
            </a:r>
          </a:p>
          <a:p>
            <a:pPr>
              <a:spcAft>
                <a:spcPts val="100"/>
              </a:spcAft>
              <a:defRPr sz="1100">
                <a:solidFill>
                  <a:srgbClr val="E0F0FF"/>
                </a:solidFill>
                <a:latin typeface="Consolas"/>
              </a:defRPr>
            </a:pPr>
            <a:r>
              <a:t>  mpi_net:</a:t>
            </a:r>
          </a:p>
          <a:p>
            <a:pPr>
              <a:spcAft>
                <a:spcPts val="100"/>
              </a:spcAft>
              <a:defRPr sz="1100">
                <a:solidFill>
                  <a:srgbClr val="E0F0FF"/>
                </a:solidFill>
                <a:latin typeface="Consolas"/>
              </a:defRPr>
            </a:pPr>
            <a:r>
              <a:t>    subnet:</a:t>
            </a:r>
          </a:p>
          <a:p>
            <a:pPr>
              <a:spcAft>
                <a:spcPts val="100"/>
              </a:spcAft>
              <a:defRPr sz="1100">
                <a:solidFill>
                  <a:srgbClr val="E0F0FF"/>
                </a:solidFill>
                <a:latin typeface="Consolas"/>
              </a:defRPr>
            </a:pPr>
            <a:r>
              <a:t>    172.28.0.0/16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8"/>
                </a:solidFill>
                <a:latin typeface="Calibri"/>
              </a:defRPr>
            </a:pPr>
            <a:r>
              <a:t>4-node static cluster · Ubuntu 22.04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280160"/>
            <a:ext cx="3566160" cy="5029200"/>
          </a:xfrm>
          <a:prstGeom prst="roundRect">
            <a:avLst/>
          </a:prstGeom>
          <a:solidFill>
            <a:srgbClr val="1A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371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CAF50"/>
                </a:solidFill>
                <a:latin typeface="Calibri"/>
              </a:defRPr>
            </a:pPr>
            <a:r>
              <a:t>Google Colab (GPU)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92024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Free T4 GPU (15GB VRAM)</a:t>
            </a:r>
          </a:p>
          <a:p>
            <a:pPr>
              <a:spcBef>
                <a:spcPts val="0"/>
              </a:spcBef>
              <a:spcAft>
                <a:spcPts val="5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2560 CUDA cores</a:t>
            </a:r>
          </a:p>
          <a:p>
            <a:pPr>
              <a:spcBef>
                <a:spcPts val="0"/>
              </a:spcBef>
              <a:spcAft>
                <a:spcPts val="5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Self-builds CUDA from source</a:t>
            </a:r>
          </a:p>
          <a:p>
            <a:pPr>
              <a:spcBef>
                <a:spcPts val="0"/>
              </a:spcBef>
              <a:spcAft>
                <a:spcPts val="5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Deterministic matrices (seed=42)</a:t>
            </a:r>
          </a:p>
          <a:p>
            <a:pPr>
              <a:spcBef>
                <a:spcPts val="0"/>
              </a:spcBef>
              <a:spcAft>
                <a:spcPts val="5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Generates benchmark charts</a:t>
            </a:r>
          </a:p>
          <a:p>
            <a:pPr>
              <a:spcBef>
                <a:spcPts val="0"/>
              </a:spcBef>
              <a:spcAft>
                <a:spcPts val="5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CUDA Tiled: ~4000x speedup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5029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700"/>
                </a:solidFill>
                <a:latin typeface="Calibri"/>
              </a:defRPr>
            </a:pPr>
            <a:r>
              <a:t>N=2048: CUDA Tiled 27.3ms vs CPU 110.6s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280160"/>
            <a:ext cx="3566160" cy="5029200"/>
          </a:xfrm>
          <a:prstGeom prst="roundRect">
            <a:avLst/>
          </a:prstGeom>
          <a:solidFill>
            <a:srgbClr val="1A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371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Calibri"/>
              </a:defRPr>
            </a:pPr>
            <a:r>
              <a:t>AWS EC2 Cloud Scaling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92024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c5.large instances</a:t>
            </a:r>
          </a:p>
          <a:p>
            <a:pPr>
              <a:spcBef>
                <a:spcPts val="0"/>
              </a:spcBef>
              <a:spcAft>
                <a:spcPts val="5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2 vCPU, 4GB RAM, $0.085/hr</a:t>
            </a:r>
          </a:p>
          <a:p>
            <a:pPr>
              <a:spcBef>
                <a:spcPts val="0"/>
              </a:spcBef>
              <a:spcAft>
                <a:spcPts val="5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1 → 2 → 4 process scaling</a:t>
            </a:r>
          </a:p>
          <a:p>
            <a:pPr>
              <a:spcBef>
                <a:spcPts val="0"/>
              </a:spcBef>
              <a:spcAft>
                <a:spcPts val="5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Near-linear speedup: 3.99x</a:t>
            </a:r>
          </a:p>
          <a:p>
            <a:pPr>
              <a:spcBef>
                <a:spcPts val="0"/>
              </a:spcBef>
              <a:spcAft>
                <a:spcPts val="5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Cost: ~$0.09 per full run</a:t>
            </a:r>
          </a:p>
          <a:p>
            <a:pPr>
              <a:spcBef>
                <a:spcPts val="0"/>
              </a:spcBef>
              <a:spcAft>
                <a:spcPts val="5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N=2048: 19.18s (4-proc)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5029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CAF50"/>
                </a:solidFill>
                <a:latin typeface="Calibri"/>
              </a:defRPr>
            </a:pPr>
            <a:r>
              <a:t>MPI scales seamlessly to cloud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Benchmark Results — Execution Times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828800" cy="38100"/>
          </a:xfrm>
          <a:prstGeom prst="rect">
            <a:avLst/>
          </a:prstGeom>
          <a:solidFill>
            <a:srgbClr val="00B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5266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080260"/>
                <a:gridCol w="2080260"/>
                <a:gridCol w="2080260"/>
                <a:gridCol w="2080260"/>
              </a:tblGrid>
              <a:tr h="43891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F1326"/>
                          </a:solidFill>
                        </a:defRPr>
                      </a:pPr>
                      <a:r>
                        <a:t>Implementation</a:t>
                      </a:r>
                    </a:p>
                  </a:txBody>
                  <a:tcPr>
                    <a:solidFill>
                      <a:srgbClr val="00BF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F1326"/>
                          </a:solidFill>
                        </a:defRPr>
                      </a:pPr>
                      <a:r>
                        <a:t>256</a:t>
                      </a:r>
                    </a:p>
                  </a:txBody>
                  <a:tcPr>
                    <a:solidFill>
                      <a:srgbClr val="00BF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F1326"/>
                          </a:solidFill>
                        </a:defRPr>
                      </a:pPr>
                      <a:r>
                        <a:t>512</a:t>
                      </a:r>
                    </a:p>
                  </a:txBody>
                  <a:tcPr>
                    <a:solidFill>
                      <a:srgbClr val="00BF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F1326"/>
                          </a:solidFill>
                        </a:defRPr>
                      </a:pPr>
                      <a:r>
                        <a:t>1024</a:t>
                      </a:r>
                    </a:p>
                  </a:txBody>
                  <a:tcPr>
                    <a:solidFill>
                      <a:srgbClr val="00BF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F1326"/>
                          </a:solidFill>
                        </a:defRPr>
                      </a:pPr>
                      <a:r>
                        <a:t>2048</a:t>
                      </a:r>
                    </a:p>
                  </a:txBody>
                  <a:tcPr>
                    <a:solidFill>
                      <a:srgbClr val="00BFA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CPU Sequential</a:t>
                      </a:r>
                    </a:p>
                  </a:txBody>
                  <a:tcPr>
                    <a:solidFill>
                      <a:srgbClr val="1A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26.4 ms</a:t>
                      </a:r>
                    </a:p>
                  </a:txBody>
                  <a:tcPr>
                    <a:solidFill>
                      <a:srgbClr val="1A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271.5 ms</a:t>
                      </a:r>
                    </a:p>
                  </a:txBody>
                  <a:tcPr>
                    <a:solidFill>
                      <a:srgbClr val="1A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5.40 s</a:t>
                      </a:r>
                    </a:p>
                  </a:txBody>
                  <a:tcPr>
                    <a:solidFill>
                      <a:srgbClr val="1A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88.23 s</a:t>
                      </a:r>
                    </a:p>
                  </a:txBody>
                  <a:tcPr>
                    <a:solidFill>
                      <a:srgbClr val="1A224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OpenMP CPU</a:t>
                      </a:r>
                    </a:p>
                  </a:txBody>
                  <a:tcPr>
                    <a:solidFill>
                      <a:srgbClr val="151D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1.4 ms</a:t>
                      </a:r>
                    </a:p>
                  </a:txBody>
                  <a:tcPr>
                    <a:solidFill>
                      <a:srgbClr val="151D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8.6 ms</a:t>
                      </a:r>
                    </a:p>
                  </a:txBody>
                  <a:tcPr>
                    <a:solidFill>
                      <a:srgbClr val="151D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92.1 ms</a:t>
                      </a:r>
                    </a:p>
                  </a:txBody>
                  <a:tcPr>
                    <a:solidFill>
                      <a:srgbClr val="151D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1.22 s</a:t>
                      </a:r>
                    </a:p>
                  </a:txBody>
                  <a:tcPr>
                    <a:solidFill>
                      <a:srgbClr val="151D3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MPI-1 (Local)</a:t>
                      </a:r>
                    </a:p>
                  </a:txBody>
                  <a:tcPr>
                    <a:solidFill>
                      <a:srgbClr val="1A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3.9 ms</a:t>
                      </a:r>
                    </a:p>
                  </a:txBody>
                  <a:tcPr>
                    <a:solidFill>
                      <a:srgbClr val="1A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22.7 ms</a:t>
                      </a:r>
                    </a:p>
                  </a:txBody>
                  <a:tcPr>
                    <a:solidFill>
                      <a:srgbClr val="1A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292.5 ms</a:t>
                      </a:r>
                    </a:p>
                  </a:txBody>
                  <a:tcPr>
                    <a:solidFill>
                      <a:srgbClr val="1A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2.84 s</a:t>
                      </a:r>
                    </a:p>
                  </a:txBody>
                  <a:tcPr>
                    <a:solidFill>
                      <a:srgbClr val="1A224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MPI-2 (Local)</a:t>
                      </a:r>
                    </a:p>
                  </a:txBody>
                  <a:tcPr>
                    <a:solidFill>
                      <a:srgbClr val="151D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1.7 ms</a:t>
                      </a:r>
                    </a:p>
                  </a:txBody>
                  <a:tcPr>
                    <a:solidFill>
                      <a:srgbClr val="151D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16.6 ms</a:t>
                      </a:r>
                    </a:p>
                  </a:txBody>
                  <a:tcPr>
                    <a:solidFill>
                      <a:srgbClr val="151D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185 ms</a:t>
                      </a:r>
                    </a:p>
                  </a:txBody>
                  <a:tcPr>
                    <a:solidFill>
                      <a:srgbClr val="151D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1.90 s</a:t>
                      </a:r>
                    </a:p>
                  </a:txBody>
                  <a:tcPr>
                    <a:solidFill>
                      <a:srgbClr val="151D3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MPI-4 (Docker)</a:t>
                      </a:r>
                    </a:p>
                  </a:txBody>
                  <a:tcPr>
                    <a:solidFill>
                      <a:srgbClr val="1A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4.1 ms</a:t>
                      </a:r>
                    </a:p>
                  </a:txBody>
                  <a:tcPr>
                    <a:solidFill>
                      <a:srgbClr val="1A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29.3 ms</a:t>
                      </a:r>
                    </a:p>
                  </a:txBody>
                  <a:tcPr>
                    <a:solidFill>
                      <a:srgbClr val="1A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253.7 ms</a:t>
                      </a:r>
                    </a:p>
                  </a:txBody>
                  <a:tcPr>
                    <a:solidFill>
                      <a:srgbClr val="1A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1.82 s</a:t>
                      </a:r>
                    </a:p>
                  </a:txBody>
                  <a:tcPr>
                    <a:solidFill>
                      <a:srgbClr val="1A224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Colab CPU</a:t>
                      </a:r>
                    </a:p>
                  </a:txBody>
                  <a:tcPr>
                    <a:solidFill>
                      <a:srgbClr val="151D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79.8 ms</a:t>
                      </a:r>
                    </a:p>
                  </a:txBody>
                  <a:tcPr>
                    <a:solidFill>
                      <a:srgbClr val="151D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788.6 ms</a:t>
                      </a:r>
                    </a:p>
                  </a:txBody>
                  <a:tcPr>
                    <a:solidFill>
                      <a:srgbClr val="151D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8.59 s</a:t>
                      </a:r>
                    </a:p>
                  </a:txBody>
                  <a:tcPr>
                    <a:solidFill>
                      <a:srgbClr val="151D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110.65 s</a:t>
                      </a:r>
                    </a:p>
                  </a:txBody>
                  <a:tcPr>
                    <a:solidFill>
                      <a:srgbClr val="151D3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CUDA Naive (T4)</a:t>
                      </a:r>
                    </a:p>
                  </a:txBody>
                  <a:tcPr>
                    <a:solidFill>
                      <a:srgbClr val="1A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0.2 ms</a:t>
                      </a:r>
                    </a:p>
                  </a:txBody>
                  <a:tcPr>
                    <a:solidFill>
                      <a:srgbClr val="1A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0.7 ms</a:t>
                      </a:r>
                    </a:p>
                  </a:txBody>
                  <a:tcPr>
                    <a:solidFill>
                      <a:srgbClr val="1A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8.1 ms</a:t>
                      </a:r>
                    </a:p>
                  </a:txBody>
                  <a:tcPr>
                    <a:solidFill>
                      <a:srgbClr val="1A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44.0 ms</a:t>
                      </a:r>
                    </a:p>
                  </a:txBody>
                  <a:tcPr>
                    <a:solidFill>
                      <a:srgbClr val="1A224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CUDA Tiled (T4)</a:t>
                      </a:r>
                    </a:p>
                  </a:txBody>
                  <a:tcPr>
                    <a:solidFill>
                      <a:srgbClr val="151D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0.2 ms</a:t>
                      </a:r>
                    </a:p>
                  </a:txBody>
                  <a:tcPr>
                    <a:solidFill>
                      <a:srgbClr val="151D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0.5 ms</a:t>
                      </a:r>
                    </a:p>
                  </a:txBody>
                  <a:tcPr>
                    <a:solidFill>
                      <a:srgbClr val="151D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3.3 ms</a:t>
                      </a:r>
                    </a:p>
                  </a:txBody>
                  <a:tcPr>
                    <a:solidFill>
                      <a:srgbClr val="151D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27.3 ms</a:t>
                      </a:r>
                    </a:p>
                  </a:txBody>
                  <a:tcPr>
                    <a:solidFill>
                      <a:srgbClr val="151D3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AWS (1-proc)</a:t>
                      </a:r>
                    </a:p>
                  </a:txBody>
                  <a:tcPr>
                    <a:solidFill>
                      <a:srgbClr val="1A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A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244.3 ms</a:t>
                      </a:r>
                    </a:p>
                  </a:txBody>
                  <a:tcPr>
                    <a:solidFill>
                      <a:srgbClr val="1A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3.72 s</a:t>
                      </a:r>
                    </a:p>
                  </a:txBody>
                  <a:tcPr>
                    <a:solidFill>
                      <a:srgbClr val="1A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76.60 s</a:t>
                      </a:r>
                    </a:p>
                  </a:txBody>
                  <a:tcPr>
                    <a:solidFill>
                      <a:srgbClr val="1A224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AWS (2-proc)</a:t>
                      </a:r>
                    </a:p>
                  </a:txBody>
                  <a:tcPr>
                    <a:solidFill>
                      <a:srgbClr val="151D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51D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123.6 ms</a:t>
                      </a:r>
                    </a:p>
                  </a:txBody>
                  <a:tcPr>
                    <a:solidFill>
                      <a:srgbClr val="151D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1.80 s</a:t>
                      </a:r>
                    </a:p>
                  </a:txBody>
                  <a:tcPr>
                    <a:solidFill>
                      <a:srgbClr val="151D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33.25 s</a:t>
                      </a:r>
                    </a:p>
                  </a:txBody>
                  <a:tcPr>
                    <a:solidFill>
                      <a:srgbClr val="151D3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AWS (4-proc)</a:t>
                      </a:r>
                    </a:p>
                  </a:txBody>
                  <a:tcPr>
                    <a:solidFill>
                      <a:srgbClr val="1A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A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72.3 ms</a:t>
                      </a:r>
                    </a:p>
                  </a:txBody>
                  <a:tcPr>
                    <a:solidFill>
                      <a:srgbClr val="1A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967.6 ms</a:t>
                      </a:r>
                    </a:p>
                  </a:txBody>
                  <a:tcPr>
                    <a:solidFill>
                      <a:srgbClr val="1A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19.18 s</a:t>
                      </a:r>
                    </a:p>
                  </a:txBody>
                  <a:tcPr>
                    <a:solidFill>
                      <a:srgbClr val="1A224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Performance Analysis — Speedup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828800" cy="38100"/>
          </a:xfrm>
          <a:prstGeom prst="rect">
            <a:avLst/>
          </a:prstGeom>
          <a:solidFill>
            <a:srgbClr val="00B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8B4F8"/>
                </a:solidFill>
                <a:latin typeface="Calibri"/>
              </a:defRPr>
            </a:pPr>
            <a:r>
              <a:t>Speedup vs CPU Sequential (N=2048)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3474720" cy="1828800"/>
          </a:xfrm>
          <a:prstGeom prst="roundRect">
            <a:avLst/>
          </a:prstGeom>
          <a:solidFill>
            <a:srgbClr val="1A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574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8B4D8"/>
                </a:solidFill>
                <a:latin typeface="Calibri"/>
              </a:defRPr>
            </a:pPr>
            <a:r>
              <a:t>~72x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88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OpenMP CPU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920240"/>
            <a:ext cx="3474720" cy="1828800"/>
          </a:xfrm>
          <a:prstGeom prst="roundRect">
            <a:avLst/>
          </a:prstGeom>
          <a:solidFill>
            <a:srgbClr val="1A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20574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8B4F8"/>
                </a:solidFill>
                <a:latin typeface="Calibri"/>
              </a:defRPr>
            </a:pPr>
            <a:r>
              <a:t>~46x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788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MPI-2 (Local)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920240"/>
            <a:ext cx="3474720" cy="1828800"/>
          </a:xfrm>
          <a:prstGeom prst="roundRect">
            <a:avLst/>
          </a:prstGeom>
          <a:solidFill>
            <a:srgbClr val="1A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0574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8B4F8"/>
                </a:solidFill>
                <a:latin typeface="Calibri"/>
              </a:defRPr>
            </a:pPr>
            <a:r>
              <a:t>~48x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788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MPI-4 (Docker)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206240"/>
            <a:ext cx="3474720" cy="1828800"/>
          </a:xfrm>
          <a:prstGeom prst="roundRect">
            <a:avLst/>
          </a:prstGeom>
          <a:solidFill>
            <a:srgbClr val="1A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3434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D700"/>
                </a:solidFill>
                <a:latin typeface="Calibri"/>
              </a:defRPr>
            </a:pPr>
            <a:r>
              <a:t>~4.6x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074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AWS (4-proc)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4206240"/>
            <a:ext cx="3474720" cy="1828800"/>
          </a:xfrm>
          <a:prstGeom prst="roundRect">
            <a:avLst/>
          </a:prstGeom>
          <a:solidFill>
            <a:srgbClr val="1A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43434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4CAF50"/>
                </a:solidFill>
                <a:latin typeface="Calibri"/>
              </a:defRPr>
            </a:pPr>
            <a:r>
              <a:t>~2006x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5074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CUDA Naive (T4)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4206240"/>
            <a:ext cx="3474720" cy="1828800"/>
          </a:xfrm>
          <a:prstGeom prst="roundRect">
            <a:avLst/>
          </a:prstGeom>
          <a:solidFill>
            <a:srgbClr val="1A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43434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4CAF50"/>
                </a:solidFill>
                <a:latin typeface="Calibri"/>
              </a:defRPr>
            </a:pPr>
            <a:r>
              <a:t>~3225x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5074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CUDA Tiled (T4)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Key Design Decisions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828800" cy="38100"/>
          </a:xfrm>
          <a:prstGeom prst="rect">
            <a:avLst/>
          </a:prstGeom>
          <a:solidFill>
            <a:srgbClr val="00B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11064240" cy="640080"/>
          </a:xfrm>
          <a:prstGeom prst="roundRect">
            <a:avLst/>
          </a:prstGeom>
          <a:solidFill>
            <a:srgbClr val="1A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FC3F7"/>
                </a:solidFill>
                <a:latin typeface="Calibri"/>
              </a:defRPr>
            </a:pPr>
            <a:r>
              <a:t>Deterministic Matrices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8"/>
                </a:solidFill>
                <a:latin typeface="Calibri"/>
              </a:defRPr>
            </a:pPr>
            <a:r>
              <a:t>srand(42) everywhere — same size = same matrix across all platforms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93392"/>
            <a:ext cx="11064240" cy="640080"/>
          </a:xfrm>
          <a:prstGeom prst="roundRect">
            <a:avLst/>
          </a:prstGeom>
          <a:solidFill>
            <a:srgbClr val="1A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391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8B4D8"/>
                </a:solidFill>
                <a:latin typeface="Calibri"/>
              </a:defRPr>
            </a:pPr>
            <a:r>
              <a:t>Explicit Modes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1343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8"/>
                </a:solidFill>
                <a:latin typeface="Calibri"/>
              </a:defRPr>
            </a:pPr>
            <a:r>
              <a:t>No auto-detection — missing hardware = clear error, not silent fallback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06624"/>
            <a:ext cx="11064240" cy="640080"/>
          </a:xfrm>
          <a:prstGeom prst="roundRect">
            <a:avLst/>
          </a:prstGeom>
          <a:solidFill>
            <a:srgbClr val="1A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75234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CAF50"/>
                </a:solidFill>
                <a:latin typeface="Calibri"/>
              </a:defRPr>
            </a:pPr>
            <a:r>
              <a:t>i-k-j Loop Order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26664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8"/>
                </a:solidFill>
                <a:latin typeface="Calibri"/>
              </a:defRPr>
            </a:pPr>
            <a:r>
              <a:t>Better cache locality on B[k][j] — sequential access pattern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419856"/>
            <a:ext cx="11064240" cy="640080"/>
          </a:xfrm>
          <a:prstGeom prst="roundRect">
            <a:avLst/>
          </a:prstGeom>
          <a:solidFill>
            <a:srgbClr val="1A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46557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D700"/>
                </a:solidFill>
                <a:latin typeface="Calibri"/>
              </a:defRPr>
            </a:pPr>
            <a:r>
              <a:t>Scalar Hoisting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39896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8"/>
                </a:solidFill>
                <a:latin typeface="Calibri"/>
              </a:defRPr>
            </a:pPr>
            <a:r>
              <a:t>a_ik = A[i][k] hoisted out of j-loop — reduces redundant memory loads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133088"/>
            <a:ext cx="11064240" cy="640080"/>
          </a:xfrm>
          <a:prstGeom prst="roundRect">
            <a:avLst/>
          </a:prstGeom>
          <a:solidFill>
            <a:srgbClr val="1A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1788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B4F8"/>
                </a:solidFill>
                <a:latin typeface="Calibri"/>
              </a:defRPr>
            </a:pPr>
            <a:r>
              <a:t>No collapse(2)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45312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8"/>
                </a:solidFill>
                <a:latin typeface="Calibri"/>
              </a:defRPr>
            </a:pPr>
            <a:r>
              <a:t>Outer i-loop alone provides enough parallelism — avoids false sharing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846320"/>
            <a:ext cx="11064240" cy="640080"/>
          </a:xfrm>
          <a:prstGeom prst="roundRect">
            <a:avLst/>
          </a:prstGeom>
          <a:solidFill>
            <a:srgbClr val="1A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892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FA0"/>
                </a:solidFill>
                <a:latin typeface="Calibri"/>
              </a:defRPr>
            </a:pPr>
            <a:r>
              <a:t>Tile Size 16×16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1663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8"/>
                </a:solidFill>
                <a:latin typeface="Calibri"/>
              </a:defRPr>
            </a:pPr>
            <a:r>
              <a:t>2048 bytes shared mem per block (of 48KB) — high GPU occupancy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559552"/>
            <a:ext cx="11064240" cy="640080"/>
          </a:xfrm>
          <a:prstGeom prst="roundRect">
            <a:avLst/>
          </a:prstGeom>
          <a:solidFill>
            <a:srgbClr val="1A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6052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9800"/>
                </a:solidFill>
                <a:latin typeface="Calibri"/>
              </a:defRPr>
            </a:pPr>
            <a:r>
              <a:t>VERIFY_TOLERANCE 1e-2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87959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8"/>
                </a:solidFill>
                <a:latin typeface="Calibri"/>
              </a:defRPr>
            </a:pPr>
            <a:r>
              <a:t>Accounts for FP non-association across parallel execution orders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Conclusion &amp; Key Findings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828800" cy="38100"/>
          </a:xfrm>
          <a:prstGeom prst="rect">
            <a:avLst/>
          </a:prstGeom>
          <a:solidFill>
            <a:srgbClr val="00B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11064240" cy="658368"/>
          </a:xfrm>
          <a:prstGeom prst="roundRect">
            <a:avLst/>
          </a:prstGeom>
          <a:solidFill>
            <a:srgbClr val="1A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" y="1389888"/>
            <a:ext cx="411480" cy="41148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371600"/>
            <a:ext cx="10149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GPU acceleration (CUDA Tiled) provides the highest speedup — ~3225x over CPU sequential at N=2048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29968"/>
            <a:ext cx="11064240" cy="658368"/>
          </a:xfrm>
          <a:prstGeom prst="roundRect">
            <a:avLst/>
          </a:prstGeom>
          <a:solidFill>
            <a:srgbClr val="1A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85800" y="2139696"/>
            <a:ext cx="411480" cy="411480"/>
          </a:xfrm>
          <a:prstGeom prst="ellipse">
            <a:avLst/>
          </a:prstGeom>
          <a:solidFill>
            <a:srgbClr val="F8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121408"/>
            <a:ext cx="10149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OpenMP CPU achieves ~72x speedup — excellent shared-memory parallelism on a single machine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79776"/>
            <a:ext cx="11064240" cy="658368"/>
          </a:xfrm>
          <a:prstGeom prst="roundRect">
            <a:avLst/>
          </a:prstGeom>
          <a:solidFill>
            <a:srgbClr val="1A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85800" y="2889504"/>
            <a:ext cx="411480" cy="411480"/>
          </a:xfrm>
          <a:prstGeom prst="ellipse">
            <a:avLst/>
          </a:prstGeom>
          <a:solidFill>
            <a:srgbClr val="E8B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871216"/>
            <a:ext cx="10149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MPI enables scaling beyond a single machine — near-linear speedup on both Docker and AWS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529584"/>
            <a:ext cx="11064240" cy="658368"/>
          </a:xfrm>
          <a:prstGeom prst="roundRect">
            <a:avLst/>
          </a:prstGeom>
          <a:solidFill>
            <a:srgbClr val="1A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85800" y="3639312"/>
            <a:ext cx="411480" cy="41148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621024"/>
            <a:ext cx="10149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Loop reordering (i-j-k → i-k-j) significantly improved cache locality for both OpenMP and MPI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279392"/>
            <a:ext cx="11064240" cy="658368"/>
          </a:xfrm>
          <a:prstGeom prst="roundRect">
            <a:avLst/>
          </a:prstGeom>
          <a:solidFill>
            <a:srgbClr val="1A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85800" y="4389120"/>
            <a:ext cx="411480" cy="411480"/>
          </a:xfrm>
          <a:prstGeom prst="ellipse">
            <a:avLst/>
          </a:prstGeom>
          <a:solidFill>
            <a:srgbClr val="00B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370832"/>
            <a:ext cx="10149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Hybrid deployment (Docker + Colab + AWS) covers all parallel paradigms at zero GPU cost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029200"/>
            <a:ext cx="11064240" cy="658368"/>
          </a:xfrm>
          <a:prstGeom prst="roundRect">
            <a:avLst/>
          </a:prstGeom>
          <a:solidFill>
            <a:srgbClr val="1A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85800" y="5138928"/>
            <a:ext cx="411480" cy="41148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5120640"/>
            <a:ext cx="10149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Deterministic matrices + relaxed tolerance (1e-2) enable fair cross-platform verification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3017520"/>
            <a:ext cx="3017520" cy="38100"/>
          </a:xfrm>
          <a:prstGeom prst="rect">
            <a:avLst/>
          </a:prstGeom>
          <a:solidFill>
            <a:srgbClr val="00B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0BCC8"/>
                </a:solidFill>
                <a:latin typeface="Calibri"/>
              </a:defRPr>
            </a:pPr>
            <a:r>
              <a:t>CUDA-MPI MatMul Engine  ·  PDC Lab  ·  May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8B4F8"/>
                </a:solidFill>
                <a:latin typeface="Calibri"/>
              </a:defRPr>
            </a:pPr>
            <a:r>
              <a:t>M.Fezan (466)  ·  Shoaib Rafiq (479)  ·  Umer Malik (628)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CC8"/>
                </a:solidFill>
                <a:latin typeface="Calibri"/>
              </a:defRPr>
            </a:pPr>
            <a:r>
              <a:t>Lahore Garrison University  ·  Department of Computer Science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0352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BFA0"/>
                </a:solidFill>
                <a:latin typeface="Calibri"/>
              </a:defRPr>
            </a:pPr>
            <a:r>
              <a:t>github.com/H0NEYP0T-466/cuda-mpi-matmul-engine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