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CPU Sequential</c:v>
                </c:pt>
              </c:strCache>
            </c:strRef>
          </c:tx>
          <c:spPr>
            <a:solidFill>
              <a:srgbClr val="FF4444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43.732</c:v>
                </c:pt>
                <c:pt idx="1">
                  <c:v>315.637</c:v>
                </c:pt>
                <c:pt idx="2">
                  <c:v>7811.235</c:v>
                </c:pt>
                <c:pt idx="3">
                  <c:v>126842.005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OpenMP CPU</c:v>
                </c:pt>
              </c:strCache>
            </c:strRef>
          </c:tx>
          <c:spPr>
            <a:solidFill>
              <a:srgbClr val="FF8C00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29.982</c:v>
                </c:pt>
                <c:pt idx="1">
                  <c:v>388.407</c:v>
                </c:pt>
                <c:pt idx="2">
                  <c:v>8157.823</c:v>
                </c:pt>
                <c:pt idx="3">
                  <c:v>84620.725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MPI (1 proc)</c:v>
                </c:pt>
              </c:strCache>
            </c:strRef>
          </c:tx>
          <c:spPr>
            <a:solidFill>
              <a:srgbClr val="00D2FF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34.412</c:v>
                </c:pt>
                <c:pt idx="1">
                  <c:v>357.026</c:v>
                </c:pt>
                <c:pt idx="2">
                  <c:v>7492.908</c:v>
                </c:pt>
                <c:pt idx="3">
                  <c:v>113245.736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MPI (2 proc)</c:v>
                </c:pt>
              </c:strCache>
            </c:strRef>
          </c:tx>
          <c:spPr>
            <a:solidFill>
              <a:srgbClr val="00FF88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21.411</c:v>
                </c:pt>
                <c:pt idx="1">
                  <c:v>210.259</c:v>
                </c:pt>
                <c:pt idx="2">
                  <c:v>5653.263</c:v>
                </c:pt>
                <c:pt idx="3">
                  <c:v>69900.285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AWS Cloud MPI (1)</c:v>
                </c:pt>
              </c:strCache>
            </c:strRef>
          </c:tx>
          <c:spPr>
            <a:solidFill>
              <a:srgbClr val="9D4EDD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1">
                  <c:v>244.267</c:v>
                </c:pt>
                <c:pt idx="2">
                  <c:v>3715.969</c:v>
                </c:pt>
                <c:pt idx="3">
                  <c:v>76600.439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AWS Cloud MPI (2)</c:v>
                </c:pt>
              </c:strCache>
            </c:strRef>
          </c:tx>
          <c:spPr>
            <a:solidFill>
              <a:srgbClr val="00AAFF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1">
                  <c:v>123.562</c:v>
                </c:pt>
                <c:pt idx="2">
                  <c:v>1795.509</c:v>
                </c:pt>
                <c:pt idx="3">
                  <c:v>33248.469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 Cloud MPI (4)</c:v>
                </c:pt>
              </c:strCache>
            </c:strRef>
          </c:tx>
          <c:spPr>
            <a:solidFill>
              <a:srgbClr val="FF00AA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Sheet1!$H$2:$H$5</c:f>
              <c:numCache>
                <c:formatCode>General</c:formatCode>
                <c:ptCount val="4"/>
                <c:pt idx="1">
                  <c:v>72.283</c:v>
                </c:pt>
                <c:pt idx="2">
                  <c:v>967.612</c:v>
                </c:pt>
                <c:pt idx="3">
                  <c:v>19179.924</c:v>
                </c:pt>
              </c:numCache>
            </c:numRef>
          </c:val>
        </c:ser>
        <c:gapWidth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333355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CPU Sequential</c:v>
                </c:pt>
              </c:strCache>
            </c:strRef>
          </c:tx>
          <c:spPr>
            <a:solidFill>
              <a:srgbClr val="FF4444"/>
            </a:solidFill>
          </c:spPr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0.7673</c:v>
                </c:pt>
                <c:pt idx="1">
                  <c:v>0.8505</c:v>
                </c:pt>
                <c:pt idx="2">
                  <c:v>0.2749</c:v>
                </c:pt>
                <c:pt idx="3">
                  <c:v>0.1354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OpenMP CPU</c:v>
                </c:pt>
              </c:strCache>
            </c:strRef>
          </c:tx>
          <c:spPr>
            <a:solidFill>
              <a:srgbClr val="FF8C00"/>
            </a:solidFill>
          </c:spPr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1.1191</c:v>
                </c:pt>
                <c:pt idx="1">
                  <c:v>0.6911</c:v>
                </c:pt>
                <c:pt idx="2">
                  <c:v>0.2632</c:v>
                </c:pt>
                <c:pt idx="3">
                  <c:v>0.203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MPI (1 proc)</c:v>
                </c:pt>
              </c:strCache>
            </c:strRef>
          </c:tx>
          <c:spPr>
            <a:solidFill>
              <a:srgbClr val="00D2FF"/>
            </a:solidFill>
          </c:spPr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0.9751</c:v>
                </c:pt>
                <c:pt idx="1">
                  <c:v>0.7519</c:v>
                </c:pt>
                <c:pt idx="2">
                  <c:v>0.2866</c:v>
                </c:pt>
                <c:pt idx="3">
                  <c:v>0.1517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MPI (2 proc)</c:v>
                </c:pt>
              </c:strCache>
            </c:strRef>
          </c:tx>
          <c:spPr>
            <a:solidFill>
              <a:srgbClr val="00FF88"/>
            </a:solidFill>
          </c:spPr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1.5672</c:v>
                </c:pt>
                <c:pt idx="1">
                  <c:v>1.2767</c:v>
                </c:pt>
                <c:pt idx="2">
                  <c:v>0.3799</c:v>
                </c:pt>
                <c:pt idx="3">
                  <c:v>0.2458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AWS Cloud MPI (1)</c:v>
                </c:pt>
              </c:strCache>
            </c:strRef>
          </c:tx>
          <c:spPr>
            <a:solidFill>
              <a:srgbClr val="9D4EDD"/>
            </a:solidFill>
          </c:spPr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1">
                  <c:v>1.0989</c:v>
                </c:pt>
                <c:pt idx="2">
                  <c:v>0.5779</c:v>
                </c:pt>
                <c:pt idx="3">
                  <c:v>0.2243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AWS Cloud MPI (2)</c:v>
                </c:pt>
              </c:strCache>
            </c:strRef>
          </c:tx>
          <c:spPr>
            <a:solidFill>
              <a:srgbClr val="00AAFF"/>
            </a:solidFill>
          </c:spPr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1">
                  <c:v>2.1725</c:v>
                </c:pt>
                <c:pt idx="2">
                  <c:v>1.196</c:v>
                </c:pt>
                <c:pt idx="3">
                  <c:v>0.5167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 Cloud MPI (4)</c:v>
                </c:pt>
              </c:strCache>
            </c:strRef>
          </c:tx>
          <c:spPr>
            <a:solidFill>
              <a:srgbClr val="FF00AA"/>
            </a:solidFill>
          </c:spPr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Sheet1!$H$2:$H$5</c:f>
              <c:numCache>
                <c:formatCode>General</c:formatCode>
                <c:ptCount val="4"/>
                <c:pt idx="1">
                  <c:v>3.7137</c:v>
                </c:pt>
                <c:pt idx="2">
                  <c:v>2.2194</c:v>
                </c:pt>
                <c:pt idx="3">
                  <c:v>0.8957</c:v>
                </c:pt>
              </c:numCache>
            </c:numRef>
          </c:val>
        </c:ser>
        <c:gapWidth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333355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OpenMP CPU</c:v>
                </c:pt>
              </c:strCache>
            </c:strRef>
          </c:tx>
          <c:spPr>
            <a:solidFill>
              <a:srgbClr val="FF8C00"/>
            </a:solidFill>
          </c:spPr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1.46</c:v>
                </c:pt>
                <c:pt idx="1">
                  <c:v>0.81</c:v>
                </c:pt>
                <c:pt idx="2">
                  <c:v>0.96</c:v>
                </c:pt>
                <c:pt idx="3">
                  <c:v>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MPI (2 proc)</c:v>
                </c:pt>
              </c:strCache>
            </c:strRef>
          </c:tx>
          <c:spPr>
            <a:solidFill>
              <a:srgbClr val="00FF88"/>
            </a:solidFill>
          </c:spPr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2.04</c:v>
                </c:pt>
                <c:pt idx="1">
                  <c:v>1.5</c:v>
                </c:pt>
                <c:pt idx="2">
                  <c:v>1.38</c:v>
                </c:pt>
                <c:pt idx="3">
                  <c:v>1.81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 Cloud MPI (2)</c:v>
                </c:pt>
              </c:strCache>
            </c:strRef>
          </c:tx>
          <c:spPr>
            <a:solidFill>
              <a:srgbClr val="00AAFF"/>
            </a:solidFill>
          </c:spPr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1">
                  <c:v>2.56</c:v>
                </c:pt>
                <c:pt idx="2">
                  <c:v>4.12</c:v>
                </c:pt>
                <c:pt idx="3">
                  <c:v>3.81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 Cloud MPI (4)</c:v>
                </c:pt>
              </c:strCache>
            </c:strRef>
          </c:tx>
          <c:spPr>
            <a:solidFill>
              <a:srgbClr val="FF00AA"/>
            </a:solidFill>
          </c:spPr>
          <c:cat>
            <c:strRef>
              <c:f>Sheet1!$A$2:$A$5</c:f>
              <c:strCache>
                <c:ptCount val="4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1">
                  <c:v>4.36</c:v>
                </c:pt>
                <c:pt idx="2">
                  <c:v>8.07</c:v>
                </c:pt>
                <c:pt idx="3">
                  <c:v>6.61</c:v>
                </c:pt>
              </c:numCache>
            </c:numRef>
          </c:val>
        </c:ser>
        <c:gapWidth val="1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333355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2FF"/>
                </a:solidFill>
                <a:latin typeface="Calibri"/>
              </a:defRPr>
            </a:pPr>
            <a:r>
              <a:t>CUDA-MPI MatMul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Distributed Matrix Multiplication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  <a:latin typeface="Calibri"/>
              </a:defRPr>
            </a:pPr>
            <a:r>
              <a:t>High-Performance Computing | CPU  CUDA  OpenMP  MPI  AWS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9999"/>
                </a:solidFill>
                <a:latin typeface="Calibri"/>
              </a:defRPr>
            </a:pPr>
            <a:r>
              <a:t>Presented by Muhammad Fezan | Fall-23-BSCS-466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10362895" cy="38404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3990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39903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Project Overview &amp; Objectives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828800"/>
            <a:ext cx="10362895" cy="38404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856231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56231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Architecture &amp; Tech Stack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286000"/>
            <a:ext cx="10362895" cy="38404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3134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31343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Five Parallelization Strategies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743200"/>
            <a:ext cx="10362895" cy="38404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7706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77063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Implementation Details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200400"/>
            <a:ext cx="10362895" cy="38404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2278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22783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Execution Environments (Local, Docker, AWS)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657600"/>
            <a:ext cx="10362895" cy="38404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6850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68503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Benchmark Results &amp; Timings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114800"/>
            <a:ext cx="10362895" cy="38404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1422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14223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Performance Charts Analysis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572000"/>
            <a:ext cx="10362895" cy="38404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5994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59943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MPI Scaling Analysis (Strong &amp; Weak)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029200"/>
            <a:ext cx="10362895" cy="38404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50566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05663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AWS Cloud Scaling &amp; Cost Analysis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5486400"/>
            <a:ext cx="10362895" cy="38404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55138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51383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Correctness Verification &amp; CPU Tolerance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943600"/>
            <a:ext cx="10362895" cy="38404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88720" y="59710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97103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Execution Logs &amp; Proofs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6400800"/>
            <a:ext cx="10362895" cy="38404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8720" y="64282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642823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Project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303520" cy="5029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49377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What is this project?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Distributed matrix multiplication framework implementing 5 parallelization strategies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CPU Sequential, CUDA Naive, CUDA Tiled (Shared Memory), OpenMP (GPU+CPU), MPI Distributed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Containerized with Docker (4-node MPI cluster)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Deployable on AWS EC2 for real cloud scaling experiments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Automated benchmarking with 6 auto-generated performance charts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Deterministic reproducibility via fixed seed (srand(42))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All implementations verified against CPU reference with 1e-3 tolerance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371600"/>
            <a:ext cx="5029200" cy="5029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463040"/>
            <a:ext cx="4663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FF88"/>
                </a:solidFill>
                <a:latin typeface="Calibri"/>
              </a:defRPr>
            </a:pPr>
            <a:r>
              <a:t>Key Features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Explicit mode selection - no silent fallback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Edge case tested: N = 1, 15, 17, 31, 33, 255, 257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Row-wise MPI decomposition minimizes communication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CUDA tile size 16x16 (2KB shared memory per block)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Google Colab support for free T4 GPU experiments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Cost efficiency analysis for AWS runs ($/hr modeling)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Open source under MIT License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Architecture &amp; Tech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560320" cy="4754880"/>
          </a:xfrm>
          <a:prstGeom prst="rect">
            <a:avLst/>
          </a:prstGeom>
          <a:solidFill>
            <a:srgbClr val="16213E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2560320" cy="635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2FF"/>
                </a:solidFill>
                <a:latin typeface="Calibri"/>
              </a:defRPr>
            </a:pPr>
            <a:r>
              <a:t>Languages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19456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4027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C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69748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CUDA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20040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461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70332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4903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Shell/Bash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20624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5195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Makefile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1371600"/>
            <a:ext cx="2560320" cy="4754880"/>
          </a:xfrm>
          <a:prstGeom prst="rect">
            <a:avLst/>
          </a:prstGeom>
          <a:solidFill>
            <a:srgbClr val="16213E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1371600"/>
            <a:ext cx="2560320" cy="63500"/>
          </a:xfrm>
          <a:prstGeom prst="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1879" y="1554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FF88"/>
                </a:solidFill>
                <a:latin typeface="Calibri"/>
              </a:defRPr>
            </a:pPr>
            <a:r>
              <a:t>Libraries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219456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0" y="224027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OpenMP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269748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743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OpenMPI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320040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2461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CUDA Runtime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0" y="370332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374903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matplotlib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0" y="420624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0" y="425195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numpy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1371600"/>
            <a:ext cx="2560320" cy="475488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1371600"/>
            <a:ext cx="2560320" cy="635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1554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8C00"/>
                </a:solidFill>
                <a:latin typeface="Calibri"/>
              </a:defRPr>
            </a:pPr>
            <a:r>
              <a:t>DevOps/Cloud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219456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224027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Docker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69748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2743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Docker Compose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320040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2461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AWS EC2 (c5.large)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370332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74903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Google Colab (T4)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420624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425195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Ubuntu 22.04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61120" y="1371600"/>
            <a:ext cx="2560320" cy="4754880"/>
          </a:xfrm>
          <a:prstGeom prst="rect">
            <a:avLst/>
          </a:prstGeom>
          <a:solidFill>
            <a:srgbClr val="16213E"/>
          </a:solidFill>
          <a:ln w="12700">
            <a:solidFill>
              <a:srgbClr val="9D4E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61120" y="1371600"/>
            <a:ext cx="2560320" cy="63500"/>
          </a:xfrm>
          <a:prstGeom prst="rect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8280" y="1554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D4EDD"/>
                </a:solidFill>
                <a:latin typeface="Calibri"/>
              </a:defRPr>
            </a:pPr>
            <a:r>
              <a:t>Build System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0" y="219456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00" y="224027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gcc &gt;= 9.0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0" y="269748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0" y="2743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nvcc &gt;= 11.0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0" y="320040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44000" y="32461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mpicc &gt;= 3.1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0" y="370332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0" y="374903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make &gt;= 4.0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0" y="4206240"/>
            <a:ext cx="219456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44000" y="425195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CMake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Five Parallelization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057400" cy="4754880"/>
          </a:xfrm>
          <a:prstGeom prst="rect">
            <a:avLst/>
          </a:prstGeom>
          <a:solidFill>
            <a:srgbClr val="16213E"/>
          </a:solidFill>
          <a:ln w="127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2057400" cy="762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8745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4444"/>
                </a:solidFill>
                <a:latin typeface="Calibri"/>
              </a:defRPr>
            </a:pPr>
            <a:r>
              <a:t>1. CPU Sequential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1783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Triple-nested loop baseline</a:t>
            </a:r>
            <a:br/>
            <a:r>
              <a:t>O(N) complexity</a:t>
            </a:r>
            <a:br/>
            <a:r>
              <a:t>Ground truth for verification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971800" y="1371600"/>
            <a:ext cx="2057400" cy="475488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71800" y="1371600"/>
            <a:ext cx="2057400" cy="762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1645920"/>
            <a:ext cx="18745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8C00"/>
                </a:solidFill>
                <a:latin typeface="Calibri"/>
              </a:defRPr>
            </a:pPr>
            <a:r>
              <a:t>2. CUDA Naive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560320"/>
            <a:ext cx="1783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Each thread computes one output element</a:t>
            </a:r>
            <a:br/>
            <a:r>
              <a:t>Grid: (ceil(N/16), ceil(N/16))</a:t>
            </a:r>
            <a:br/>
            <a:r>
              <a:t>Bottleneck: global memory bandwidth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80" y="1371600"/>
            <a:ext cx="2057400" cy="4754880"/>
          </a:xfrm>
          <a:prstGeom prst="rect">
            <a:avLst/>
          </a:prstGeom>
          <a:solidFill>
            <a:srgbClr val="16213E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0" y="1371600"/>
            <a:ext cx="2057400" cy="76200"/>
          </a:xfrm>
          <a:prstGeom prst="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1645920"/>
            <a:ext cx="18745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FF88"/>
                </a:solidFill>
                <a:latin typeface="Calibri"/>
              </a:defRPr>
            </a:pPr>
            <a:r>
              <a:t>3. CUDA Tiled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2560320"/>
            <a:ext cx="1783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Shared memory tile loading (16x16)</a:t>
            </a:r>
            <a:br/>
            <a:r>
              <a:t>__syncthreads() between phases</a:t>
            </a:r>
            <a:br/>
            <a:r>
              <a:t>5-15x speedup over naive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1371600"/>
            <a:ext cx="2057400" cy="4754880"/>
          </a:xfrm>
          <a:prstGeom prst="rect">
            <a:avLst/>
          </a:prstGeom>
          <a:solidFill>
            <a:srgbClr val="16213E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60" y="1371600"/>
            <a:ext cx="2057400" cy="76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1645920"/>
            <a:ext cx="18745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D2FF"/>
                </a:solidFill>
                <a:latin typeface="Calibri"/>
              </a:defRPr>
            </a:pPr>
            <a:r>
              <a:t>4. OpenMP GPU/CPU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560320"/>
            <a:ext cx="1783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#pragma omp target teams distribute</a:t>
            </a:r>
            <a:br/>
            <a:r>
              <a:t>Separate compile targets</a:t>
            </a:r>
            <a:br/>
            <a:r>
              <a:t>Directive-based (less code than CUDA)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92640" y="1371600"/>
            <a:ext cx="2057400" cy="4754880"/>
          </a:xfrm>
          <a:prstGeom prst="rect">
            <a:avLst/>
          </a:prstGeom>
          <a:solidFill>
            <a:srgbClr val="16213E"/>
          </a:solidFill>
          <a:ln w="12700">
            <a:solidFill>
              <a:srgbClr val="9D4E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92640" y="1371600"/>
            <a:ext cx="2057400" cy="76200"/>
          </a:xfrm>
          <a:prstGeom prst="rect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645920"/>
            <a:ext cx="18745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9D4EDD"/>
                </a:solidFill>
                <a:latin typeface="Calibri"/>
              </a:defRPr>
            </a:pPr>
            <a:r>
              <a:t>5. MPI Distributed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2560320"/>
            <a:ext cx="1783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Row-wise decomposition</a:t>
            </a:r>
            <a:br/>
            <a:r>
              <a:t>MPI_Bcast(B) -&gt; Scatterv(A) -&gt; Gatherv(C)</a:t>
            </a:r>
            <a:br/>
            <a:r>
              <a:t>Scales across multiple machines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Implementation Details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62865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File(s)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Key Details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Build Command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CLI Entry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src/main.c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Unified CLI with --mode flag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make cpu / make mpi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Matrix Utils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core/matrix.c, matrix.h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Alloc/init/verify/free, srand(42)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Shared across all builds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core/timer.c, timer.h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CLOCK_MONOTONIC, GFLOPS calc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Shared across all builds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 Sequential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cpu/sequential.c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Triple loop O(N3) baseline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gcc -O2 -std=c99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CUDA Kernels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cuda/naive.cu, tiled.cu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16x16 tiles, shared memory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nvcc -arch=sm_XX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OpenMP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openmp/offload_cpu.c, offload_gpu.c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collapse(2), target teams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gcc -fopenmp -foffload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mpi/distributed.c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Scatterv/Bcast/Gatherv, separate binary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mpicc -O2 -std=c99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Execution Environments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solidFill>
            <a:srgbClr val="16213E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486400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4475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Local Machine (WSL2)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4447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HW: 4 cores (nproc=4)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44475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FF88"/>
                </a:solidFill>
                <a:latin typeface="Calibri"/>
              </a:defRPr>
            </a:pPr>
            <a:r>
              <a:t>Cost: 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Software: gcc, mpicc, make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03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Purpose: CPU Sequential, OpenMP CPU, MPI (np=1,2,4)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solidFill>
            <a:srgbClr val="16213E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5486400" cy="50800"/>
          </a:xfrm>
          <a:prstGeom prst="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249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FF88"/>
                </a:solidFill>
                <a:latin typeface="Calibri"/>
              </a:defRPr>
            </a:pPr>
            <a:r>
              <a:t>Docker MPI Cluster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72491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HW: 4 static containers (node0-3)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2491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FF88"/>
                </a:solidFill>
                <a:latin typeface="Calibri"/>
              </a:defRPr>
            </a:pPr>
            <a:r>
              <a:t>Cost: Free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Software: Ubuntu 22.04, OpenMPI, SSH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83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Purpose: MPI across 4 nodes, volume-mounted results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3931920"/>
            <a:ext cx="5486400" cy="508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Calibri"/>
              </a:defRPr>
            </a:pPr>
            <a:r>
              <a:t>Google Colab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40050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HW: Free T4 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0050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FF88"/>
                </a:solidFill>
                <a:latin typeface="Calibri"/>
              </a:defRPr>
            </a:pPr>
            <a:r>
              <a:t>Cost: 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389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Software: CUDA Toolkit, Jupyter Notebook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663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Purpose: CUDA Naive, CUDA Tiled experiments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212079"/>
            <a:ext cx="10698480" cy="1097280"/>
          </a:xfrm>
          <a:prstGeom prst="rect">
            <a:avLst/>
          </a:prstGeom>
          <a:solidFill>
            <a:srgbClr val="16213E"/>
          </a:solidFill>
          <a:ln w="12700">
            <a:solidFill>
              <a:srgbClr val="9D4E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5212079"/>
            <a:ext cx="5486400" cy="50800"/>
          </a:xfrm>
          <a:prstGeom prst="rect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285231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D4EDD"/>
                </a:solidFill>
                <a:latin typeface="Calibri"/>
              </a:defRPr>
            </a:pPr>
            <a:r>
              <a:t>AWS EC2 Cloud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52852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HW: c5.large (2 vCPU, 4GB RAM)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5285231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FF88"/>
                </a:solidFill>
                <a:latin typeface="Calibri"/>
              </a:defRPr>
            </a:pPr>
            <a:r>
              <a:t>Cost: $0.085/hr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6927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Software: Amazon Linux 2023, OpenMPI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43599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Purpose: Real distributed scaling: 1,2,4 instances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Benchmark Results - All Timings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914400"/>
          <a:ext cx="1069848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333487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Matrix Size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Time (ms)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GFLOPS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 Sequential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256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43.732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0.7673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 Sequential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315.637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0.8505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 Sequential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1024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7811.235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0.2749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 Sequential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126842.005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0.1354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OpenMP CPU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256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29.982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1.1191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OpenMP CPU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388.407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0.6911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OpenMP CPU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1024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8157.823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0.2632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OpenMP CPU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84620.725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0.2030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 (1 proc)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256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34.412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0.9751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 (1 proc)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357.026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0.7519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 (1 proc)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1024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7492.908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0.2866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 (1 proc)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113245.736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0.1517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 (2 proc)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256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21.411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1.5672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 (2 proc)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210.259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1.2767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 (2 proc)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1024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5653.263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0.3799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3348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 (2 proc)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69900.285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0.2458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Docker MPI Cluster Execution Logs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0698480" cy="5486400"/>
          </a:xfrm>
          <a:prstGeom prst="rect">
            <a:avLst/>
          </a:prstGeom>
          <a:solidFill>
            <a:srgbClr val="0D0D1A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097280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2FF"/>
                </a:solidFill>
                <a:latin typeface="Calibri"/>
              </a:defRPr>
            </a:pPr>
            <a:r>
              <a:t>  mpi_node0 | === Running MPI across 4 static nodes ===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35331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2FF"/>
                </a:solidFill>
                <a:latin typeface="Calibri"/>
              </a:defRPr>
            </a:pPr>
            <a:r>
              <a:t>  mpi_node0 | [MPI] Matrix size: 512x512 | Processes: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09344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2FF"/>
                </a:solidFill>
                <a:latin typeface="Calibri"/>
              </a:defRPr>
            </a:pPr>
            <a:r>
              <a:t>  mpi_node0 | Matrix Size: 512 x 512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65376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  mpi_node0 | Total Time: 327.511 ms | Compute: 280.444 ms | Comm: 46.952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2140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  mpi_node0 | GFLOPS: 0.8196 | Speedup vs CPU: 2.01x | Efficiency: 50.24%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FF88"/>
                </a:solidFill>
                <a:latin typeface="Calibri"/>
              </a:defRPr>
            </a:pPr>
            <a:r>
              <a:t>  mpi_node0 | Verified: 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7063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2FF"/>
                </a:solidFill>
                <a:latin typeface="Calibri"/>
              </a:defRPr>
            </a:pPr>
            <a:r>
              <a:t>  mpi_node0 | [MPI] Matrix size: 512x512 | Processes: 4 (Run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26664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  mpi_node0 | Total Time: 356.381 ms | Compute: 243.253 ms | Comm: 113.005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282696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  mpi_node0 | GFLOPS: 0.7532 | Speedup vs CPU: 1.54x | Efficiency: 38.55%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3872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FF88"/>
                </a:solidFill>
                <a:latin typeface="Calibri"/>
              </a:defRPr>
            </a:pPr>
            <a:r>
              <a:t>  mpi_node0 | Verified: 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31920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2FF"/>
                </a:solidFill>
                <a:latin typeface="Calibri"/>
              </a:defRPr>
            </a:pPr>
            <a:r>
              <a:t>  mpi_node0 | [MPI] Matrix size: 512x512 | Processes: 4 (Run 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18795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  mpi_node0 | Total Time: 261.681 ms | Compute: 235.934 ms | Comm: 25.665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43984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  mpi_node0 | GFLOPS: 1.0258 | Speedup vs CPU: 2.17x | Efficiency: 54.27%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0016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FF88"/>
                </a:solidFill>
                <a:latin typeface="Calibri"/>
              </a:defRPr>
            </a:pPr>
            <a:r>
              <a:t>  mpi_node0 | Verified: 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9320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2FF"/>
                </a:solidFill>
                <a:latin typeface="Calibri"/>
              </a:defRPr>
            </a:pPr>
            <a:r>
              <a:t>  mpi_node0 | [MPI] Matrix size: 1024x1024 | Processes: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  mpi_node0 | Total Time: 6194.132 ms | Compute: 6107.225 ms | Comm: 86.825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60527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  mpi_node0 | GFLOPS: 0.3467 | Speedup vs CPU: 1.84x | Efficiency: 46.01%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861304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FF88"/>
                </a:solidFill>
                <a:latin typeface="Calibri"/>
              </a:defRPr>
            </a:pPr>
            <a:r>
              <a:t>  mpi_node0 | Verified: PASS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Local MPI Execution Logs (WSL2 - 4 cores)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698480" cy="11887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3657600" cy="50800"/>
          </a:xfrm>
          <a:prstGeom prst="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618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FF88"/>
                </a:solidFill>
                <a:latin typeface="Calibri"/>
              </a:defRPr>
            </a:pPr>
            <a:r>
              <a:t>MPI (np=1) | Size: 512x512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Total: 253.552 ms | Compute: 251.573 ms | Comm: 1.977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2FF"/>
                </a:solidFill>
                <a:latin typeface="Calibri"/>
              </a:defRPr>
            </a:pPr>
            <a:r>
              <a:t>GFLOPS: 1.0587 | Speedup: 0.98x | Efficiency: 98.44%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920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FF88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560320"/>
            <a:ext cx="10698480" cy="11887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560320"/>
            <a:ext cx="3657600" cy="50800"/>
          </a:xfrm>
          <a:prstGeom prst="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6334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FF88"/>
                </a:solidFill>
                <a:latin typeface="Calibri"/>
              </a:defRPr>
            </a:pPr>
            <a:r>
              <a:t>MPI (np=2) | Size: 512x512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17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Total: 154.403 ms | Compute: 150.781 ms | Comm: 3.617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91839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2FF"/>
                </a:solidFill>
                <a:latin typeface="Calibri"/>
              </a:defRPr>
            </a:pPr>
            <a:r>
              <a:t>GFLOPS: 1.7385 | Speedup: 1.84x | Efficiency: 91.78%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29183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FF88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931920"/>
            <a:ext cx="10698480" cy="11887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931920"/>
            <a:ext cx="3657600" cy="50800"/>
          </a:xfrm>
          <a:prstGeom prst="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050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FF88"/>
                </a:solidFill>
                <a:latin typeface="Calibri"/>
              </a:defRPr>
            </a:pPr>
            <a:r>
              <a:t>MPI (np=4) | Size: 512x512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89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Total: 139.103 ms | Compute: 131.041 ms | Comm: 8.030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63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2FF"/>
                </a:solidFill>
                <a:latin typeface="Calibri"/>
              </a:defRPr>
            </a:pPr>
            <a:r>
              <a:t>GFLOPS: 1.9298 | Speedup: 2.04x | Efficiency: 50.89%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FF88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Note: Local machine has 4 cores (nproc=4). MPI np=4 uses --oversubscribe flag.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AWS EC2 Cloud Scaling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914400"/>
          <a:ext cx="112471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53035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Procs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Time (ms)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GFLOPS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Efficiency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 MPI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244.267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1.0989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1.00x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 MPI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123.562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2.1725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1.97x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98%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 MPI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72.283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3.7137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3.37x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84%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 MPI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1024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3715.969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0.5779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1.00x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 MPI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1024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1795.509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1.1960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2.06x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103%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 MPI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1024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967.612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2.2194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3.84x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96%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 MPI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76600.439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0.2243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1.00x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 MPI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33248.469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0.5167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2.30x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115%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 MPI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19179.924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0.8957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3.99x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99%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Edge Case Correctness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Testing non-square-friendly sizes to verify correctness across boundary conditions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645920"/>
          <a:ext cx="94183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64"/>
                <a:gridCol w="1883664"/>
                <a:gridCol w="1883664"/>
                <a:gridCol w="1883664"/>
                <a:gridCol w="1883664"/>
              </a:tblGrid>
              <a:tr h="51435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Matrix Size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Time (ms)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GFLOPS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 Sequential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 x 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0.0073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 Sequential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15 x 15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0.028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0.2430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 Sequential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17 x 17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0.006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1.6001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 Sequential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31 x 31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0.045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1.3374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 Sequential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33 x 33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0.051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1.4102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 Sequential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255 x 255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37.390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0.8869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 Sequential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257 x 257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54.178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0.6266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Chart 1: Execution Time vs Matrix Size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_exec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515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Chart 2: Speedup vs CPU Sequential Baseline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_spe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515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Chart 3: Computational Throughput (GFLOPS)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_gfl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515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Chart 4: MPI Strong Scaling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_mpi_strong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515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Chart 5: MPI Execution Time vs Problem Size (Weak Scaling)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_mpi_weak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515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Chart 6: Cost Efficiency Analysis (AWS EC2 c5.large @ $0.085/hr)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_cost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515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CPU Tolerance &amp; Correctness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5303520" cy="53035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Calibri"/>
              </a:defRPr>
            </a:pPr>
            <a:r>
              <a:t>Why Tolerance is Needed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Floating-point arithmetic is NOT associative: (a+b)+c != a+(b+c)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Different execution order across CPU, GPU, and MPI produces tiny differences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GPU uses FMA (fused multiply-add) which has different rounding than CPU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MPI reductions may arrive in different order across ranks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Tolerance of 1e-3 accounts for these hardware-level differences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All implementations verified: |computed - reference| &lt; 1e-3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097280"/>
            <a:ext cx="5029200" cy="53035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4663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FF88"/>
                </a:solidFill>
                <a:latin typeface="Calibri"/>
              </a:defRPr>
            </a:pPr>
            <a:r>
              <a:t>Verification Methodology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CPU sequential result used as ground truth reference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Every implementation compares against CPU reference output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Deterministic matrices via srand(42) ensure same input everywhere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Edge cases tested: N=1,15,17,31,33,255,257 (all PASS)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All 24 benchmark runs: 100% PASS rate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Verification is performed at runtime, not post-hoc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Tolerance check: max_diff &lt; 0.001 for all matrix elements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D2FF"/>
                </a:solidFill>
                <a:latin typeface="Calibri"/>
              </a:defRPr>
            </a:pPr>
            <a:r>
              <a:t>Comprehensive Platform Comparison - All Timings Per Matrix Size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005840"/>
          <a:ext cx="1124712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D2FF"/>
                </a:solidFill>
                <a:latin typeface="Calibri"/>
              </a:defRPr>
            </a:pPr>
            <a:r>
              <a:t>GFLOPS Comparison Across All Platforms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005840"/>
          <a:ext cx="1124712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D2FF"/>
                </a:solidFill>
                <a:latin typeface="Calibri"/>
              </a:defRPr>
            </a:pPr>
            <a:r>
              <a:t>Speedup Analysis vs CPU Sequential Baseline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005840"/>
          <a:ext cx="1124712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AWS EC2 Deployment Proofs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-Inst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577840" cy="2743200"/>
          </a:xfrm>
          <a:prstGeom prst="rect">
            <a:avLst/>
          </a:prstGeom>
        </p:spPr>
      </p:pic>
      <p:pic>
        <p:nvPicPr>
          <p:cNvPr id="5" name="Picture 4" descr="2-SecurityRu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05840"/>
            <a:ext cx="5577840" cy="2743200"/>
          </a:xfrm>
          <a:prstGeom prst="rect">
            <a:avLst/>
          </a:prstGeom>
        </p:spPr>
      </p:pic>
      <p:pic>
        <p:nvPicPr>
          <p:cNvPr id="6" name="Picture 5" descr="fina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931920"/>
            <a:ext cx="5577840" cy="2560320"/>
          </a:xfrm>
          <a:prstGeom prst="rect">
            <a:avLst/>
          </a:prstGeom>
        </p:spPr>
      </p:pic>
      <p:pic>
        <p:nvPicPr>
          <p:cNvPr id="7" name="Picture 6" descr="final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931920"/>
            <a:ext cx="55778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AWS Cloud Scaling Execution Logs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solidFill>
            <a:srgbClr val="0D0D1A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  [ec2-user@ip-172-31-32-127 ~]$ source /etc/profile.d/modules.sh &amp;&amp; module load mpi/openmpi-x86_64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4416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2FF"/>
                </a:solidFill>
                <a:latin typeface="Calibri"/>
              </a:defRPr>
            </a:pPr>
            <a:r>
              <a:t>  [ec2-user@ip-172-31-32-127 ~]$ ./scripts/cloud_scaling.sh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73936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FF88"/>
                </a:solidFill>
                <a:latin typeface="Calibri"/>
              </a:defRPr>
            </a:pPr>
            <a:r>
              <a:t>    Size: 512x512 | Procs: 1  | Time: 244.267ms | Speedup: 1.00x | Efficiency: 100.00% | Cost: $.00000070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66543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FF88"/>
                </a:solidFill>
                <a:latin typeface="Calibri"/>
              </a:defRPr>
            </a:pPr>
            <a:r>
              <a:t>    Size: 512x512 | Procs: 2  | Time: 123.562ms | Speedup: 1.97x | Efficiency: 98.00%  | Cost: $.00000070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59151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FF88"/>
                </a:solidFill>
                <a:latin typeface="Calibri"/>
              </a:defRPr>
            </a:pPr>
            <a:r>
              <a:t>    Size: 512x512 | Procs: 4  | Time: 72.283ms  | Speedup: 3.37x | Efficiency: 84.00%  | Cost: $.00000080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1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FF88"/>
                </a:solidFill>
                <a:latin typeface="Calibri"/>
              </a:defRPr>
            </a:pPr>
            <a:r>
              <a:t>    Size: 1024x1024 | Procs: 1 | Time: 3715.969ms | Speedup: 1.00x | Efficiency: 100.00% | Cost: $.00001073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81527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FF88"/>
                </a:solidFill>
                <a:latin typeface="Calibri"/>
              </a:defRPr>
            </a:pPr>
            <a:r>
              <a:t>    Size: 1024x1024 | Procs: 2 | Time: 1795.509ms | Speedup: 2.06x | Efficiency: 103.00% | Cost: $.00001036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74135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FF88"/>
                </a:solidFill>
                <a:latin typeface="Calibri"/>
              </a:defRPr>
            </a:pPr>
            <a:r>
              <a:t>    Size: 1024x1024 | Procs: 4 | Time: 967.612ms  | Speedup: 3.84x | Efficiency: 96.00%  | Cost: $.00001116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03903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FF88"/>
                </a:solidFill>
                <a:latin typeface="Calibri"/>
              </a:defRPr>
            </a:pPr>
            <a:r>
              <a:t>    Size: 2048x2048 | Procs: 1 | Time: 76600.439ms | Speedup: 1.00x | Efficiency: 100.00% | Cost: $.00022129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96511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FF88"/>
                </a:solidFill>
                <a:latin typeface="Calibri"/>
              </a:defRPr>
            </a:pPr>
            <a:r>
              <a:t>    Size: 2048x2048 | Procs: 2 | Time: 33248.469ms | Speedup: 2.30x | Efficiency: 115.00% | Cost: $.00019210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3891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FF88"/>
                </a:solidFill>
                <a:latin typeface="Calibri"/>
              </a:defRPr>
            </a:pPr>
            <a:r>
              <a:t>    Size: 2048x2048 | Procs: 4 | Time: 19179.924ms | Speedup: 3.99x | Efficiency: 99.00%  | Cost: $.00022160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CPU Execution Output Logs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5486400" cy="5486400"/>
          </a:xfrm>
          <a:prstGeom prst="rect">
            <a:avLst/>
          </a:prstGeom>
          <a:solidFill>
            <a:srgbClr val="0D0D1A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2FF"/>
                </a:solidFill>
                <a:latin typeface="Calibri"/>
              </a:defRPr>
            </a:pPr>
            <a:r>
              <a:t>  $ ./build/matmul_cpu --mode cpu --size small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25296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[MODE] CPU Sequential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[MATRIX] 256x256 (seed=42)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64208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Matrix Size : 256 x 256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83664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Time        : 23.276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GFLOPS      : 1.4416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22576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Speedup     : 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42032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FF88"/>
                </a:solidFill>
                <a:latin typeface="Calibri"/>
              </a:defRPr>
            </a:pPr>
            <a:r>
              <a:t>    Verified    : PASS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852928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2FF"/>
                </a:solidFill>
                <a:latin typeface="Calibri"/>
              </a:defRPr>
            </a:pPr>
            <a:r>
              <a:t>  $ ./build/matmul_cpu --mode cpu --size 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72384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[MATRIX] 512x512 (seed=42)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9184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Matrix Size : 512 x 512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511296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Time        : 251.530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730752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GFLOPS      : 1.0672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950208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FF88"/>
                </a:solidFill>
                <a:latin typeface="Calibri"/>
              </a:defRPr>
            </a:pPr>
            <a:r>
              <a:t>    Verified    : 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61104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2FF"/>
                </a:solidFill>
                <a:latin typeface="Calibri"/>
              </a:defRPr>
            </a:pPr>
            <a:r>
              <a:t>  $ export OMP_NUM_THREADS=4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8056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2FF"/>
                </a:solidFill>
                <a:latin typeface="Calibri"/>
              </a:defRPr>
            </a:pPr>
            <a:r>
              <a:t>  $ ./build/matmul_cpu --mode openmp-cpu --size medium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00016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Calibri"/>
              </a:defRPr>
            </a:pPr>
            <a:r>
              <a:t>  [MODE] OpenMP CPU Parallel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19472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Calibri"/>
              </a:defRPr>
            </a:pPr>
            <a:r>
              <a:t>  [OpenMP CPU] Using 4 threads (CPU only)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138928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Matrix Size : 512 x 512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58384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Time        : 113.453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57784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GFLOPS      : 2.3660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97296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Speedup     : 2.23x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016752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FF88"/>
                </a:solidFill>
                <a:latin typeface="Calibri"/>
              </a:defRPr>
            </a:pPr>
            <a:r>
              <a:t>    Verified    : PASS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914400"/>
            <a:ext cx="5486400" cy="5486400"/>
          </a:xfrm>
          <a:prstGeom prst="rect">
            <a:avLst/>
          </a:prstGeom>
          <a:solidFill>
            <a:srgbClr val="0D0D1A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00584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2FF"/>
                </a:solidFill>
                <a:latin typeface="Calibri"/>
              </a:defRPr>
            </a:pPr>
            <a:r>
              <a:t>  $ ./build/matmul_cpu --mode cpu --size large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225296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[MATRIX] 1024x1024 (seed=42)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444752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Matrix Size : 1024 x 1024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664208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Time        : 5045.560 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1883664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GFLOPS      : 0.4256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210312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FF88"/>
                </a:solidFill>
                <a:latin typeface="Calibri"/>
              </a:defRPr>
            </a:pPr>
            <a:r>
              <a:t>    Verified    : PASS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414016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2FF"/>
                </a:solidFill>
                <a:latin typeface="Calibri"/>
              </a:defRPr>
            </a:pPr>
            <a:r>
              <a:t>  $ ./build/matmul_cpu --mode cpu --size large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2633472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[MATRIX] 1024x1024 (seed=42)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852928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Matrix Size : 1024 x 1024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3072384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Time        : 7933.497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29184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GFLOPS      : 0.2707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511296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FF88"/>
                </a:solidFill>
                <a:latin typeface="Calibri"/>
              </a:defRPr>
            </a:pPr>
            <a:r>
              <a:t>    Verified    : PASS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822192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2FF"/>
                </a:solidFill>
                <a:latin typeface="Calibri"/>
              </a:defRPr>
            </a:pPr>
            <a:r>
              <a:t>  $ ./build/matmul_cpu --mode cpu --size 300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041648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[MATRIX] 300x300 (seed=42)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261104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Matrix Size : 300 x 300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448056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Time        : 36.087 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4700016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GFLOPS      : 1.4964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4919472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FF88"/>
                </a:solidFill>
                <a:latin typeface="Calibri"/>
              </a:defRPr>
            </a:pPr>
            <a:r>
              <a:t>    Verified    : PASS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230368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Calibri"/>
              </a:defRPr>
            </a:pPr>
            <a:r>
              <a:t>  [CPU REF] computation used 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5449824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ground truth for all verification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Docker MPI Cluster Build &amp; Run Logs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solidFill>
            <a:srgbClr val="0D0D1A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2FF"/>
                </a:solidFill>
                <a:latin typeface="Calibri"/>
              </a:defRPr>
            </a:pPr>
            <a:r>
              <a:t>  $ docker --version  =&gt;  Docker version 29.4.0, build 9d7ad9f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43584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2FF"/>
                </a:solidFill>
                <a:latin typeface="Calibri"/>
              </a:defRPr>
            </a:pPr>
            <a:r>
              <a:t>  $ docker-compose --version  =&gt;  Docker Compose version v5.1.2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35607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2FF"/>
                </a:solidFill>
                <a:latin typeface="Calibri"/>
              </a:defRPr>
            </a:pPr>
            <a:r>
              <a:t>  $ cd docker &amp;&amp; docker-compose up --build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Calibri"/>
              </a:defRPr>
            </a:pPr>
            <a:r>
              <a:t>  [+] Building 419.3s (23/23) FINISHED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9384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D4EDD"/>
                </a:solidFill>
                <a:latin typeface="Calibri"/>
              </a:defRPr>
            </a:pPr>
            <a:r>
              <a:t>    =&gt; [node0 internal] load build definition from Dockerfile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21408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D4EDD"/>
                </a:solidFill>
                <a:latin typeface="Calibri"/>
              </a:defRPr>
            </a:pPr>
            <a:r>
              <a:t>    =&gt; [node2 1/9] FROM docker.io/library/ubuntu:22.04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13432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Calibri"/>
              </a:defRPr>
            </a:pPr>
            <a:r>
              <a:t>    =&gt; [node1 2/9] RUN apt-get update &amp;&amp; apt-get install -y build-essential gcc g++ make openmpi-bin...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05456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D4EDD"/>
                </a:solidFill>
                <a:latin typeface="Calibri"/>
              </a:defRPr>
            </a:pPr>
            <a:r>
              <a:t>    =&gt; [node3 5/9] WORKDIR /app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97479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D4EDD"/>
                </a:solidFill>
                <a:latin typeface="Calibri"/>
              </a:defRPr>
            </a:pPr>
            <a:r>
              <a:t>    =&gt; [node2 6/9] COPY src/ /app/src/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89503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D4EDD"/>
                </a:solidFill>
                <a:latin typeface="Calibri"/>
              </a:defRPr>
            </a:pPr>
            <a:r>
              <a:t>    =&gt; [node2 8/9] COPY docker/hostfile /app/hostfile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81527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D4EDD"/>
                </a:solidFill>
                <a:latin typeface="Calibri"/>
              </a:defRPr>
            </a:pPr>
            <a:r>
              <a:t>    =&gt; [node2 9/9] RUN make cpu &amp;&amp; make mpi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383279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Calibri"/>
              </a:defRPr>
            </a:pPr>
            <a:r>
              <a:t>  [+] up 9/9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75303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D4EDD"/>
                </a:solidFill>
                <a:latin typeface="Calibri"/>
              </a:defRPr>
            </a:pPr>
            <a:r>
              <a:t>    Image docker-node0  Built    384.1s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67328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D4EDD"/>
                </a:solidFill>
                <a:latin typeface="Calibri"/>
              </a:defRPr>
            </a:pPr>
            <a:r>
              <a:t>    Image docker-node1  Built    384.1s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959352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D4EDD"/>
                </a:solidFill>
                <a:latin typeface="Calibri"/>
              </a:defRPr>
            </a:pPr>
            <a:r>
              <a:t>    Image docker-node2  Built    384.1s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151376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D4EDD"/>
                </a:solidFill>
                <a:latin typeface="Calibri"/>
              </a:defRPr>
            </a:pPr>
            <a:r>
              <a:t>    Image docker-node3  Built    384.1s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343400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  Network docker_mpi_net  Created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535424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D4EDD"/>
                </a:solidFill>
                <a:latin typeface="Calibri"/>
              </a:defRPr>
            </a:pPr>
            <a:r>
              <a:t>    Container mpi_node0  Created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27448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D4EDD"/>
                </a:solidFill>
                <a:latin typeface="Calibri"/>
              </a:defRPr>
            </a:pPr>
            <a:r>
              <a:t>    Container mpi_node1  Created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919472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D4EDD"/>
                </a:solidFill>
                <a:latin typeface="Calibri"/>
              </a:defRPr>
            </a:pPr>
            <a:r>
              <a:t>    Container mpi_node2  Created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111496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D4EDD"/>
                </a:solidFill>
                <a:latin typeface="Calibri"/>
              </a:defRPr>
            </a:pPr>
            <a:r>
              <a:t>    Container mpi_node3  Created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413248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D4EDD"/>
                </a:solidFill>
                <a:latin typeface="Calibri"/>
              </a:defRPr>
            </a:pPr>
            <a:r>
              <a:t>  mpi_node0 | === Running MPI across 4 static nodes ===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605272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D4EDD"/>
                </a:solidFill>
                <a:latin typeface="Calibri"/>
              </a:defRPr>
            </a:pPr>
            <a:r>
              <a:t>  mpi_node0 | [MPI] Matrix size: 512x512 | Processes: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797296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Calibri"/>
              </a:defRPr>
            </a:pPr>
            <a:r>
              <a:t>  mpi_node0 | Total Time: 327.511 ms | GFLOPS: 0.8196 | Speedup: 2.01x | Efficiency: 50.24%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989320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FF88"/>
                </a:solidFill>
                <a:latin typeface="Calibri"/>
              </a:defRPr>
            </a:pPr>
            <a:r>
              <a:t>  mpi_node0 | Verified: PASS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D2FF"/>
                </a:solidFill>
                <a:latin typeface="Calibri"/>
              </a:defRPr>
            </a:pPr>
            <a:r>
              <a:t>Master Timing Table - All Platforms, All Runs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59436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731520"/>
          <a:ext cx="11612880" cy="585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266007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Matrix Size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Processes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Time (ms)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GFLOPS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D2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WSL2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 Sequential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256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43.732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0.7673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WSL2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 Sequential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315.637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0.8505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WSL2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 Sequential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1024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7811.235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0.2749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WSL2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 Sequential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126842.005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0.1354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WSL2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OpenMP CPU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256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 threads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29.982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1.1191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WSL2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OpenMP CPU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 threads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388.407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0.6911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WSL2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OpenMP CPU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1024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 threads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8157.823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0.2632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WSL2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OpenMP CPU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 threads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84620.725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0.2030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WSL2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256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34.412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0.9751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WSL2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357.026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0.7519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WSL2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210.259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1.2767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WSL2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139.103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1.9298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WSL2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1024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7492.908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0.2866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WSL2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1024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5653.263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0.3799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WSL2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113245.736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0.1517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Local WSL2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69900.285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0.2458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AWS EC2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 MPI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244.267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1.0989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AWS EC2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 MPI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123.562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2.1725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AWS EC2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 MPI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72.283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3.7137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266007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AWS EC2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 MPI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1024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967.612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2.2194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266013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AWS EC2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 MPI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19179.924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0.8957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FF88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Conclusion &amp; Key Findings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303520" cy="5029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49377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FF88"/>
                </a:solidFill>
                <a:latin typeface="Calibri"/>
              </a:defRPr>
            </a:pPr>
            <a:r>
              <a:t>Key Findings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MPI achieves near-linear scaling on AWS (3.99x speedup with 4 procs at 2048)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OpenMP CPU provides 2.23x speedup on 4-core machine for 512x512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Communication overhead limits MPI efficiency at smaller matrix sizes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Larger matrices benefit more from parallelization (computation dominates)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AWS cloud scaling: 84-115% efficiency across all configurations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100% correctness verification across 24 benchmark runs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Docker provides reproducible 4-node MPI cluster in single command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Total AWS experiment cost: &lt; $0.001 per 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280160"/>
            <a:ext cx="5029200" cy="50292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371600"/>
            <a:ext cx="4663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Calibri"/>
              </a:defRPr>
            </a:pPr>
            <a:r>
              <a:t>Recommendations</a:t>
            </a:r>
          </a:p>
          <a:p>
            <a:pPr algn="l">
              <a:spcBef>
                <a:spcPts val="12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Use CUDA tiled kernel for maximum GPU performance</a:t>
            </a:r>
          </a:p>
          <a:p>
            <a:pPr algn="l">
              <a:spcBef>
                <a:spcPts val="12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OpenMP offload for rapid prototyping (less code)</a:t>
            </a:r>
          </a:p>
          <a:p>
            <a:pPr algn="l">
              <a:spcBef>
                <a:spcPts val="12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MPI best for very large matrices (computation &gt; communication)</a:t>
            </a:r>
          </a:p>
          <a:p>
            <a:pPr algn="l">
              <a:spcBef>
                <a:spcPts val="12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Docker for reproducible execution environments</a:t>
            </a:r>
          </a:p>
          <a:p>
            <a:pPr algn="l">
              <a:spcBef>
                <a:spcPts val="12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AWS for real distributed scaling evidence</a:t>
            </a:r>
          </a:p>
          <a:p>
            <a:pPr algn="l">
              <a:spcBef>
                <a:spcPts val="12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Deterministic seeds ensure reproducibility everywhere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  <a:latin typeface="Calibri"/>
              </a:defRPr>
            </a:pPr>
            <a:r>
              <a:t>GitHub: github.com/H0NEYP0T-466/cuda-mpi-matmul-engine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D2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9999"/>
                </a:solidFill>
                <a:latin typeface="Calibri"/>
              </a:defRPr>
            </a:pPr>
            <a:r>
              <a:t>CUDA-MPI MatMul Engine | Muhammad Fezan | Fall-23-BSCS-466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